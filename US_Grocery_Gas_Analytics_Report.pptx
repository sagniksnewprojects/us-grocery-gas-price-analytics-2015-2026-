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notesMasters/theme/theme2.xml" ContentType="application/vnd.openxmlformats-officedocument.them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officeDocument/2006/relationships/officeDocument" Target="/ppt/presentation.xml" Id="R51147ae05250463d" /><Relationship Type="http://schemas.openxmlformats.org/package/2006/relationships/metadata/core-properties" Target="/docProps/core.xml" Id="Rcf0ae325824642af" /><Relationship Type="http://schemas.openxmlformats.org/officeDocument/2006/relationships/extended-properties" Target="/docProps/app.xml" Id="Rbd6d9b8d2b154390" /><Relationship Type="http://schemas.openxmlformats.org/officeDocument/2006/relationships/custom-properties" Target="/docProps/custom.xml" Id="R6c6b79634bec4855" /></Relationships>
</file>

<file path=ppt/presentation.xml><?xml version="1.0" encoding="utf-8"?>
<p:presentation xmlns:r="http://schemas.openxmlformats.org/officeDocument/2006/relationships" xmlns:p="http://schemas.openxmlformats.org/presentationml/2006/main">
  <p:sldMasterIdLst>
    <p:sldMasterId xmlns:r="http://schemas.openxmlformats.org/officeDocument/2006/relationships" id="2147483648" r:id="rId1"/>
  </p:sldMasterIdLst>
  <p:notesMasterIdLst>
    <p:notesMasterId r:id="R8a5edbf148024e35"/>
  </p:notesMasterIdLst>
  <p:sldIdLst>
    <p:sldId id="256" r:id="R4f0f8452f401452a"/>
    <p:sldId id="257" r:id="R6fa917860c174d46"/>
    <p:sldId id="258" r:id="R4a32a4c8d928498c"/>
    <p:sldId id="259" r:id="R5961b8b8cc084871"/>
    <p:sldId id="260" r:id="R8370406b13984151"/>
    <p:sldId id="261" r:id="R2e55529d99ab4b3e"/>
    <p:sldId id="262" r:id="Rf59ae37ed80847fb"/>
    <p:sldId id="263" r:id="R09e1888a9fcf4796"/>
    <p:sldId id="264" r:id="R403ec317f0804183"/>
    <p:sldId id="265" r:id="R0d8f66a542ba4cf9"/>
    <p:sldId id="266" r:id="Re7684251864d451c"/>
    <p:sldId id="267" r:id="R1aed5922803b4612"/>
  </p:sldIdLst>
  <p:sldSz cx="12192000" cy="6858000"/>
  <p:notesSz cx="6858000" cy="9144000"/>
</p:presentation>
</file>

<file path=ppt/_rels/presentation.xml.rels>&#65279;<?xml version="1.0" encoding="utf-8"?><Relationships xmlns="http://schemas.openxmlformats.org/package/2006/relationships"><Relationship Type="http://schemas.openxmlformats.org/officeDocument/2006/relationships/slideMaster" Target="/ppt/slideMasters/slideMaster1.xml" Id="rId1" /><Relationship Type="http://schemas.openxmlformats.org/officeDocument/2006/relationships/theme" Target="/ppt/theme/theme1.xml" Id="rId2" /><Relationship Type="http://schemas.openxmlformats.org/officeDocument/2006/relationships/slide" Target="/ppt/slides/slide1.xml" Id="R4f0f8452f401452a" /><Relationship Type="http://schemas.openxmlformats.org/officeDocument/2006/relationships/notesMaster" Target="/ppt/notesMasters/notesMaster1.xml" Id="R8a5edbf148024e35" /><Relationship Type="http://schemas.openxmlformats.org/officeDocument/2006/relationships/slide" Target="/ppt/slides/slide2.xml" Id="R6fa917860c174d46" /><Relationship Type="http://schemas.openxmlformats.org/officeDocument/2006/relationships/slide" Target="/ppt/slides/slide3.xml" Id="R4a32a4c8d928498c" /><Relationship Type="http://schemas.openxmlformats.org/officeDocument/2006/relationships/slide" Target="/ppt/slides/slide4.xml" Id="R5961b8b8cc084871" /><Relationship Type="http://schemas.openxmlformats.org/officeDocument/2006/relationships/slide" Target="/ppt/slides/slide5.xml" Id="R8370406b13984151" /><Relationship Type="http://schemas.openxmlformats.org/officeDocument/2006/relationships/slide" Target="/ppt/slides/slide6.xml" Id="R2e55529d99ab4b3e" /><Relationship Type="http://schemas.openxmlformats.org/officeDocument/2006/relationships/slide" Target="/ppt/slides/slide7.xml" Id="Rf59ae37ed80847fb" /><Relationship Type="http://schemas.openxmlformats.org/officeDocument/2006/relationships/slide" Target="/ppt/slides/slide8.xml" Id="R09e1888a9fcf4796" /><Relationship Type="http://schemas.openxmlformats.org/officeDocument/2006/relationships/slide" Target="/ppt/slides/slide9.xml" Id="R403ec317f0804183" /><Relationship Type="http://schemas.openxmlformats.org/officeDocument/2006/relationships/slide" Target="/ppt/slides/slide10.xml" Id="R0d8f66a542ba4cf9" /><Relationship Type="http://schemas.openxmlformats.org/officeDocument/2006/relationships/slide" Target="/ppt/slides/slide11.xml" Id="Re7684251864d451c" /><Relationship Type="http://schemas.openxmlformats.org/officeDocument/2006/relationships/slide" Target="/ppt/slides/slide12.xml" Id="R1aed5922803b461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87aa1d48b5774100"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notesMaster" Target="/ppt/notesMasters/notesMaster1.xml" Id="R23166d551de045a0" /><Relationship Type="http://schemas.openxmlformats.org/officeDocument/2006/relationships/slide" Target="/ppt/slides/slide1.xml" Id="R8e16210101fc4235" /></Relationships>
</file>

<file path=ppt/notesSlides/_rels/notesSlide2.xml.rels>&#65279;<?xml version="1.0" encoding="utf-8"?><Relationships xmlns="http://schemas.openxmlformats.org/package/2006/relationships"><Relationship Type="http://schemas.openxmlformats.org/officeDocument/2006/relationships/notesMaster" Target="/ppt/notesMasters/notesMaster1.xml" Id="Raecade536eb9481e" /><Relationship Type="http://schemas.openxmlformats.org/officeDocument/2006/relationships/slide" Target="/ppt/slides/slide2.xml" Id="R1c77e7e7e37344d6" /></Relationships>
</file>

<file path=ppt/notesSlides/_rels/notesSlide3.xml.rels>&#65279;<?xml version="1.0" encoding="utf-8"?><Relationships xmlns="http://schemas.openxmlformats.org/package/2006/relationships"><Relationship Type="http://schemas.openxmlformats.org/officeDocument/2006/relationships/notesMaster" Target="/ppt/notesMasters/notesMaster1.xml" Id="R747d733efc3b4188" /><Relationship Type="http://schemas.openxmlformats.org/officeDocument/2006/relationships/slide" Target="/ppt/slides/slide3.xml" Id="Ra1c503d48aca41a6" /></Relationships>
</file>

<file path=ppt/notesSlides/_rels/notesSlide4.xml.rels>&#65279;<?xml version="1.0" encoding="utf-8"?><Relationships xmlns="http://schemas.openxmlformats.org/package/2006/relationships"><Relationship Type="http://schemas.openxmlformats.org/officeDocument/2006/relationships/notesMaster" Target="/ppt/notesMasters/notesMaster1.xml" Id="R2edd05f6f2e34049" /><Relationship Type="http://schemas.openxmlformats.org/officeDocument/2006/relationships/slide" Target="/ppt/slides/slide4.xml" Id="Ra073018fd52c47b7" /></Relationships>
</file>

<file path=ppt/notesSlides/_rels/notesSlide5.xml.rels>&#65279;<?xml version="1.0" encoding="utf-8"?><Relationships xmlns="http://schemas.openxmlformats.org/package/2006/relationships"><Relationship Type="http://schemas.openxmlformats.org/officeDocument/2006/relationships/notesMaster" Target="/ppt/notesMasters/notesMaster1.xml" Id="R99023f6e87804db6" /><Relationship Type="http://schemas.openxmlformats.org/officeDocument/2006/relationships/slide" Target="/ppt/slides/slide5.xml" Id="R9281460f7e004425" /></Relationships>
</file>

<file path=ppt/notesSlides/_rels/notesSlide6.xml.rels>&#65279;<?xml version="1.0" encoding="utf-8"?><Relationships xmlns="http://schemas.openxmlformats.org/package/2006/relationships"><Relationship Type="http://schemas.openxmlformats.org/officeDocument/2006/relationships/notesMaster" Target="/ppt/notesMasters/notesMaster1.xml" Id="Rd77c3703761241a2" /><Relationship Type="http://schemas.openxmlformats.org/officeDocument/2006/relationships/slide" Target="/ppt/slides/slide6.xml" Id="R68dc4fde7a454606" /></Relationships>
</file>

<file path=ppt/notesSlides/_rels/notesSlide7.xml.rels>&#65279;<?xml version="1.0" encoding="utf-8"?><Relationships xmlns="http://schemas.openxmlformats.org/package/2006/relationships"><Relationship Type="http://schemas.openxmlformats.org/officeDocument/2006/relationships/notesMaster" Target="/ppt/notesMasters/notesMaster1.xml" Id="Re69d8add83b3427f" /><Relationship Type="http://schemas.openxmlformats.org/officeDocument/2006/relationships/slide" Target="/ppt/slides/slide7.xml" Id="Rc425958b25034441" /></Relationships>
</file>

<file path=ppt/notesSlides/_rels/notesSlide8.xml.rels>&#65279;<?xml version="1.0" encoding="utf-8"?><Relationships xmlns="http://schemas.openxmlformats.org/package/2006/relationships"><Relationship Type="http://schemas.openxmlformats.org/officeDocument/2006/relationships/notesMaster" Target="/ppt/notesMasters/notesMaster1.xml" Id="R88c095e71d66408e" /><Relationship Type="http://schemas.openxmlformats.org/officeDocument/2006/relationships/slide" Target="/ppt/slides/slide8.xml" Id="R2018a1ab16a246d5" /></Relationships>
</file>

<file path=ppt/notesSlides/_rels/notesSlide9.xml.rels>&#65279;<?xml version="1.0" encoding="utf-8"?><Relationships xmlns="http://schemas.openxmlformats.org/package/2006/relationships"><Relationship Type="http://schemas.openxmlformats.org/officeDocument/2006/relationships/notesMaster" Target="/ppt/notesMasters/notesMaster1.xml" Id="Rffe4bf064060471e" /><Relationship Type="http://schemas.openxmlformats.org/officeDocument/2006/relationships/slide" Target="/ppt/slides/slide9.xml" Id="R0d064415f35c4830" /></Relationships>
</file>

<file path=ppt/notesSlides/_rels/notesSlide10.xml.rels>&#65279;<?xml version="1.0" encoding="utf-8"?><Relationships xmlns="http://schemas.openxmlformats.org/package/2006/relationships"><Relationship Type="http://schemas.openxmlformats.org/officeDocument/2006/relationships/notesMaster" Target="/ppt/notesMasters/notesMaster1.xml" Id="R4f5ec7639cba4da9" /><Relationship Type="http://schemas.openxmlformats.org/officeDocument/2006/relationships/slide" Target="/ppt/slides/slide10.xml" Id="Rc03a6a51182f4840" /></Relationships>
</file>

<file path=ppt/notesSlides/_rels/notesSlide11.xml.rels>&#65279;<?xml version="1.0" encoding="utf-8"?><Relationships xmlns="http://schemas.openxmlformats.org/package/2006/relationships"><Relationship Type="http://schemas.openxmlformats.org/officeDocument/2006/relationships/notesMaster" Target="/ppt/notesMasters/notesMaster1.xml" Id="Rfe833e92986646ab" /><Relationship Type="http://schemas.openxmlformats.org/officeDocument/2006/relationships/slide" Target="/ppt/slides/slide11.xml" Id="R628e8cc1c290493f" /></Relationships>
</file>

<file path=ppt/notesSlides/_rels/notesSlide12.xml.rels>&#65279;<?xml version="1.0" encoding="utf-8"?><Relationships xmlns="http://schemas.openxmlformats.org/package/2006/relationships"><Relationship Type="http://schemas.openxmlformats.org/officeDocument/2006/relationships/notesMaster" Target="/ppt/notesMasters/notesMaster1.xml" Id="Rf0a8e507122f49a1" /><Relationship Type="http://schemas.openxmlformats.org/officeDocument/2006/relationships/slide" Target="/ppt/slides/slide12.xml" Id="Refc6c154f712441f"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Welcome slide. This project is a production-ready data analytics web application analyzing US grocery and gasoline prices from 2015 to 2026 using real BLS data. Built as part of the IBM Data Analytics Project.</a:t>
            </a:r>
          </a:p>
        </p:txBody>
      </p:sp>
    </p:spTree>
  </p:cSld>
  <p:clrMapOvr>
    <a:masterClrMapping xmlns:a="http://schemas.openxmlformats.org/drawingml/2006/main"/>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This slide covers the project's core objective and scope. The application analyzes 18+ grocery categories alongside gasoline and utility gas prices using monthly BLS data spanning 2015 to 2026. The six key deliverables are the Data Pipeline, Macro Filters, Inflation Adjustment, Lag Correlation Engine, Forecasting, and AI Insights.</a:t>
            </a:r>
          </a:p>
        </p:txBody>
      </p:sp>
    </p:spTree>
  </p:cSld>
  <p:clrMapOvr>
    <a:masterClrMapping xmlns:a="http://schemas.openxmlformats.org/drawingml/2006/main"/>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Three datasets are used: the wide CSV (pivoted monthly prices), the monthly long CSV (tidy format, merged to supplement), and the item summary CSV (pre-aggregated stats). The pipeline auto-detects columns, forward-fills gaps, and union-merges both time-series sources.</a:t>
            </a:r>
          </a:p>
        </p:txBody>
      </p:sp>
    </p:spTree>
  </p:cSld>
  <p:clrMapOvr>
    <a:masterClrMapping xmlns:a="http://schemas.openxmlformats.org/drawingml/2006/main"/>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architecture follows a clean three-layer design. The Data Layer holds the three BLS CSV files. The Analytics Layer (analytics.py) handles all computation — loading, cleaning, rolling averages, inflation deflation, correlation, KPI calculation, forecasting, and insight generation. The Presentation Layer (app.py) renders everything via Streamlit with no business logic. This separation ensures testability and maintainability.</a:t>
            </a:r>
          </a:p>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Feature 1 is the data pipeline: three loaders, a merge function, and forward/back-fill for time-series integrity. Feature 2 is the macro stability filter — a 12-month rolling average that smooths monthly noise and reveals structural trends. Users toggle between raw and trend views in the sidebar.</a:t>
            </a:r>
          </a:p>
        </p:txBody>
      </p:sp>
    </p:spTree>
  </p:cSld>
  <p:clrMapOvr>
    <a:masterClrMapping xmlns:a="http://schemas.openxmlformats.org/drawingml/2006/main"/>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Feature 3 deflates nominal BLS prices to real 2015-baseline values using compound monthly inflation at 3.5% per year. The formula divides each row by a cumulative factor anchored to the series start date. This exposes whether observed price rises are structural cost increases or merely general inflation. The 35% index can be replaced with actual monthly CPI data.</a:t>
            </a:r>
          </a:p>
        </p:txBody>
      </p:sp>
    </p:spTree>
  </p:cSld>
  <p:clrMapOvr>
    <a:masterClrMapping xmlns:a="http://schemas.openxmlformats.org/drawingml/2006/main"/>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Feature 4 is the lagged correlation engine. It calculates Pearson correlation between gasoline and each grocery item at lags 0 through max_lag months. This answers how long it takes fuel price shocks to pass through to grocery prices. Visualized as a bar chart, data table, and 20-item heatmap.</a:t>
            </a:r>
          </a:p>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Feature 5 is the forecasting engine. It uses Facebook Prophet with multiplicative seasonality and a 0.15 changepoint prior. If Prophet is not installed it falls back to linear regression with residual-based 95% confidence intervals. Users can forecast 6–60 months ahead. Output includes a dual-mode chart, an annual snapshot table, and multi-item comparison.</a:t>
            </a:r>
          </a:p>
        </p:txBody>
      </p:sp>
    </p:spTree>
  </p:cSld>
  <p:clrMapOvr>
    <a:masterClrMapping xmlns:a="http://schemas.openxmlformats.org/drawingml/2006/main"/>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Slide 9 covers the KPI cards and chart UI. Five metric cards span the top of the app and update dynamically with item selection. Three chart types power Tab 1: the dual-axis price history chart, the multi-item comparison, and the year-over-year bar chart with an inflation benchmark line.</a:t>
            </a:r>
          </a:p>
        </p:txBody>
      </p:sp>
    </p:spTree>
  </p:cSld>
  <p:clrMapOvr>
    <a:masterClrMapping xmlns:a="http://schemas.openxmlformats.org/drawingml/2006/main"/>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Slide 10 covers the AI Insight Engine and Data Explorer tab. The insight engine generates 6 types of dynamic text cards based on live KPIs and lag correlations, plus an OLS scatter plot. The Data Explorer provides a styled data table, descriptive statistics, box-plot distributions, and a CSV download of the filtered, transformed dataset.</a:t>
            </a:r>
          </a:p>
        </p:txBody>
      </p:sp>
    </p:spTree>
  </p:cSld>
  <p:clrMapOvr>
    <a:masterClrMapping xmlns:a="http://schemas.openxmlformats.org/drawingml/2006/main"/>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Slide 11 covers the full technology stack: Streamlit for the web framework, Plotly for all interactive charts, Pandas for data manipulation, NumPy for numeric computation, Prophet for forecasting with scikit-learn as fallback, and the GitHub dark aesthetic CSS design system.</a:t>
            </a:r>
          </a:p>
        </p:txBody>
      </p:sp>
    </p:spTree>
  </p:cSld>
  <p:clrMapOvr>
    <a:masterClrMapping xmlns:a="http://schemas.openxmlformats.org/drawingml/2006/main"/>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Final slide. The project delivered a full end-to-end data science web application with 5 advanced analytics features. Key expected findings: gasoline is a 1–3 month leading indicator for grocery prices; eggs had the highest real-price escalation; fuel-sensitive items require the most proactive hedging. Future work includes real CPI integration, ARIMA models, and regional breakdowns.</a:t>
            </a:r>
          </a:p>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92454438fd8426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f8624edc06e4b7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6809de29d3c49c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c6761713fcd420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710caf9d8974e13" /></Relationships>
</file>

<file path=ppt/slideLayouts/slideLayout1.xml><?xml version="1.0" encoding="utf-8"?>
<p:sldLayout xmlns:p="http://schemas.openxmlformats.org/presentationml/2006/main" type="blank">
  <p:cSld name="Blank">
    <p:spTree>
      <p:nvGrpSpPr>
        <p:cNvPr id="1" name=""/>
        <p:cNvGrpSpPr/>
        <p:nvPr/>
      </p:nvGrpSpPr>
      <p:grpSpPr/>
    </p:spTree>
  </p:cSld>
</p:sldLayout>
</file>

<file path=ppt/slideLayouts/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Id1" /><Relationship Type="http://schemas.openxmlformats.org/officeDocument/2006/relationships/theme" Target="/ppt/theme/theme1.xml" Id="R98092826a4614a68" /><Relationship Type="http://schemas.openxmlformats.org/officeDocument/2006/relationships/slideLayout" Target="/ppt/slideLayouts/slideLayout2.xml" Id="rId2" /><Relationship Type="http://schemas.openxmlformats.org/officeDocument/2006/relationships/slideLayout" Target="/ppt/slideLayouts/slideLayout3.xml" Id="rId3" /><Relationship Type="http://schemas.openxmlformats.org/officeDocument/2006/relationships/slideLayout" Target="/ppt/slideLayouts/slideLayout4.xml" Id="rId4" /><Relationship Type="http://schemas.openxmlformats.org/officeDocument/2006/relationships/slideLayout" Target="/ppt/slideLayouts/slideLayout5.xml" Id="rId5" /></Relationships>
</file>

<file path=ppt/slideMasters/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Id1"/>
    <p:sldLayoutId xmlns:r="http://schemas.openxmlformats.org/officeDocument/2006/relationships" id="2147483650" r:id="rId2"/>
    <p:sldLayoutId xmlns:r="http://schemas.openxmlformats.org/officeDocument/2006/relationships" id="2147483651" r:id="rId3"/>
    <p:sldLayoutId xmlns:r="http://schemas.openxmlformats.org/officeDocument/2006/relationships" id="2147483652" r:id="rId4"/>
    <p:sldLayoutId xmlns:r="http://schemas.openxmlformats.org/officeDocument/2006/relationships" id="2147483653" r:id="rId5"/>
  </p:sldLayoutIdLst>
</p:sldMaster>
</file>

<file path=ppt/slides/_rels/slide1.xml.rels>&#65279;<?xml version="1.0" encoding="utf-8"?><Relationships xmlns="http://schemas.openxmlformats.org/package/2006/relationships"><Relationship Type="http://schemas.openxmlformats.org/officeDocument/2006/relationships/slideLayout" Target="/ppt/slideLayouts/slideLayout1.xml" Id="Rc13b6a58ee8e4b0e" /><Relationship Type="http://schemas.openxmlformats.org/officeDocument/2006/relationships/notesSlide" Target="/ppt/notesSlides/notesSlide1.xml" Id="R2d5810fa4c59454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f41c3ea40414029" /><Relationship Type="http://schemas.openxmlformats.org/officeDocument/2006/relationships/notesSlide" Target="/ppt/notesSlides/notesSlide2.xml" Id="Ref2c131c9c7c4f0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2bec6b9ab9c415a" /><Relationship Type="http://schemas.openxmlformats.org/officeDocument/2006/relationships/notesSlide" Target="/ppt/notesSlides/notesSlide3.xml" Id="R6b11c7e9e5b74a3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4e34367a6724cf4" /><Relationship Type="http://schemas.openxmlformats.org/officeDocument/2006/relationships/notesSlide" Target="/ppt/notesSlides/notesSlide4.xml" Id="R0087888195b747c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a6e082646b14d01" /><Relationship Type="http://schemas.openxmlformats.org/officeDocument/2006/relationships/notesSlide" Target="/ppt/notesSlides/notesSlide5.xml" Id="R3902a1ee8389491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1b3f08b4b15413e" /><Relationship Type="http://schemas.openxmlformats.org/officeDocument/2006/relationships/notesSlide" Target="/ppt/notesSlides/notesSlide6.xml" Id="R7e2748fece43462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f462359baa04769" /><Relationship Type="http://schemas.openxmlformats.org/officeDocument/2006/relationships/notesSlide" Target="/ppt/notesSlides/notesSlide7.xml" Id="R0d7cd17a25be466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fe77eec50a44f87" /><Relationship Type="http://schemas.openxmlformats.org/officeDocument/2006/relationships/notesSlide" Target="/ppt/notesSlides/notesSlide8.xml" Id="R623a229d231e495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33d70303558474a" /><Relationship Type="http://schemas.openxmlformats.org/officeDocument/2006/relationships/notesSlide" Target="/ppt/notesSlides/notesSlide9.xml" Id="Rce21ae6de0144b4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6196ab919994fd9" /><Relationship Type="http://schemas.openxmlformats.org/officeDocument/2006/relationships/notesSlide" Target="/ppt/notesSlides/notesSlide10.xml" Id="Rf4fbef31a62943b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31c6b565b1c4828" /><Relationship Type="http://schemas.openxmlformats.org/officeDocument/2006/relationships/notesSlide" Target="/ppt/notesSlides/notesSlide11.xml" Id="R9a6ab6e095b94d5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903734bd5ec4cec" /><Relationship Type="http://schemas.openxmlformats.org/officeDocument/2006/relationships/notesSlide" Target="/ppt/notesSlides/notesSlide12.xml" Id="Re9d2cdf9a2ad4e6e" /></Relationships>
</file>

<file path=ppt/slides/slide1.xml><?xml version="1.0" encoding="utf-8"?>
<p:sld xmlns:a="http://schemas.openxmlformats.org/drawingml/2006/main" xmlns:p="http://schemas.openxmlformats.org/presentationml/2006/main">
  <p:cSld>
    <p:bg>
      <p:bgPr>
        <a:solidFill xmlns:a="http://schemas.openxmlformats.org/drawingml/2006/main">
          <a:srgbClr val="0D1117"/>
        </a:solidFill>
      </p:bgPr>
    </p:bg>
    <p:spTree>
      <p:nvGrpSpPr>
        <p:cNvPr id="1" name=""/>
        <p:cNvGrpSpPr/>
        <p:nvPr/>
      </p:nvGrpSpPr>
      <p:grpSpPr/>
      <p:sp>
        <p:nvSpPr>
          <p:cNvPr id="100000" name="AccentBar"/>
          <p:cNvSpPr txBox="1"/>
          <p:nvPr/>
        </p:nvSpPr>
        <p:spPr>
          <a:xfrm xmlns:a="http://schemas.openxmlformats.org/drawingml/2006/main">
            <a:off x="0" y="0"/>
            <a:ext cx="12193200" cy="144000"/>
          </a:xfrm>
          <a:prstGeom xmlns:a="http://schemas.openxmlformats.org/drawingml/2006/main" prst="rect">
            <a:avLst/>
          </a:prstGeom>
          <a:solidFill xmlns:a="http://schemas.openxmlformats.org/drawingml/2006/main">
            <a:srgbClr val="1F6FEB"/>
          </a:solidFill>
        </p:spPr>
        <p:txBody>
          <a:bodyPr xmlns:a="http://schemas.openxmlformats.org/drawingml/2006/main"/>
          <a:lstStyle xmlns:a="http://schemas.openxmlformats.org/drawingml/2006/main"/>
          <a:p xmlns:a="http://schemas.openxmlformats.org/drawingml/2006/main">
            <a:endParaRPr lang="en-US">
              <a:solidFill>
                <a:srgbClr val="1F6FEB"/>
              </a:solidFill>
            </a:endParaRPr>
          </a:p>
        </p:txBody>
      </p:sp>
      <p:sp>
        <p:nvSpPr>
          <p:cNvPr id="100001" name="BottomBar"/>
          <p:cNvSpPr txBox="1"/>
          <p:nvPr/>
        </p:nvSpPr>
        <p:spPr>
          <a:xfrm xmlns:a="http://schemas.openxmlformats.org/drawingml/2006/main">
            <a:off x="0" y="6786000"/>
            <a:ext cx="12193200" cy="72000"/>
          </a:xfrm>
          <a:prstGeom xmlns:a="http://schemas.openxmlformats.org/drawingml/2006/main" prst="rect">
            <a:avLst/>
          </a:prstGeom>
          <a:solidFill xmlns:a="http://schemas.openxmlformats.org/drawingml/2006/main">
            <a:srgbClr val="1F6FEB"/>
          </a:solidFill>
        </p:spPr>
        <p:txBody>
          <a:bodyPr xmlns:a="http://schemas.openxmlformats.org/drawingml/2006/main"/>
          <a:lstStyle xmlns:a="http://schemas.openxmlformats.org/drawingml/2006/main"/>
          <a:p xmlns:a="http://schemas.openxmlformats.org/drawingml/2006/main">
            <a:endParaRPr lang="en-US">
              <a:solidFill>
                <a:srgbClr val="1F6FEB"/>
              </a:solidFill>
            </a:endParaRPr>
          </a:p>
        </p:txBody>
      </p:sp>
      <p:sp>
        <p:nvSpPr>
          <p:cNvPr id="100002" name="Eyebrow"/>
          <p:cNvSpPr txBox="1"/>
          <p:nvPr/>
        </p:nvSpPr>
        <p:spPr>
          <a:xfrm xmlns:a="http://schemas.openxmlformats.org/drawingml/2006/main">
            <a:off x="720000" y="1260000"/>
            <a:ext cx="1080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b="0">
                <a:solidFill>
                  <a:srgbClr val="58A6FF"/>
                </a:solidFill>
              </a:rPr>
              <a:t>IBM DATA ANALYTICS PROJECT  ·  2025</a:t>
            </a:r>
          </a:p>
        </p:txBody>
      </p:sp>
      <p:sp>
        <p:nvSpPr>
          <p:cNvPr id="100003" name="MainTitle"/>
          <p:cNvSpPr txBox="1"/>
          <p:nvPr/>
        </p:nvSpPr>
        <p:spPr>
          <a:xfrm xmlns:a="http://schemas.openxmlformats.org/drawingml/2006/main">
            <a:off x="720000" y="1656000"/>
            <a:ext cx="10080000" cy="108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4600" b="1">
                <a:solidFill>
                  <a:srgbClr val="E6EDF3"/>
                </a:solidFill>
              </a:rPr>
              <a:t>US Grocery &amp; Gas Price Analytics</a:t>
            </a:r>
          </a:p>
        </p:txBody>
      </p:sp>
      <p:sp>
        <p:nvSpPr>
          <p:cNvPr id="100004" name="Subtitle"/>
          <p:cNvSpPr txBox="1"/>
          <p:nvPr/>
        </p:nvSpPr>
        <p:spPr>
          <a:xfrm xmlns:a="http://schemas.openxmlformats.org/drawingml/2006/main">
            <a:off x="720000" y="2844000"/>
            <a:ext cx="10080000" cy="36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200" b="0">
                <a:solidFill>
                  <a:srgbClr val="8B949E"/>
                </a:solidFill>
              </a:rPr>
              <a:t>2015–2026 · Interactive Streamlit Dashboard</a:t>
            </a:r>
          </a:p>
        </p:txBody>
      </p:sp>
      <p:sp>
        <p:nvSpPr>
          <p:cNvPr id="100005" name="Divider"/>
          <p:cNvSpPr txBox="1"/>
          <p:nvPr/>
        </p:nvSpPr>
        <p:spPr>
          <a:xfrm xmlns:a="http://schemas.openxmlformats.org/drawingml/2006/main">
            <a:off x="720000" y="3348000"/>
            <a:ext cx="2160000" cy="36000"/>
          </a:xfrm>
          <a:prstGeom xmlns:a="http://schemas.openxmlformats.org/drawingml/2006/main" prst="rect">
            <a:avLst/>
          </a:prstGeom>
          <a:solidFill xmlns:a="http://schemas.openxmlformats.org/drawingml/2006/main">
            <a:srgbClr val="1F6FEB"/>
          </a:solidFill>
        </p:spPr>
        <p:txBody>
          <a:bodyPr xmlns:a="http://schemas.openxmlformats.org/drawingml/2006/main"/>
          <a:lstStyle xmlns:a="http://schemas.openxmlformats.org/drawingml/2006/main"/>
          <a:p xmlns:a="http://schemas.openxmlformats.org/drawingml/2006/main">
            <a:endParaRPr lang="en-US">
              <a:solidFill>
                <a:srgbClr val="1F6FEB"/>
              </a:solidFill>
            </a:endParaRPr>
          </a:p>
        </p:txBody>
      </p:sp>
      <p:sp>
        <p:nvSpPr>
          <p:cNvPr id="100006" name="BuiltWith"/>
          <p:cNvSpPr txBox="1"/>
          <p:nvPr/>
        </p:nvSpPr>
        <p:spPr>
          <a:xfrm xmlns:a="http://schemas.openxmlformats.org/drawingml/2006/main">
            <a:off x="720000" y="3600000"/>
            <a:ext cx="1008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400" b="0">
                <a:solidFill>
                  <a:srgbClr val="8B949E"/>
                </a:solidFill>
              </a:rPr>
              <a:t>Built with  Python · Streamlit · Plotly · Prophet · Pandas · Scikit-learn</a:t>
            </a:r>
          </a:p>
        </p:txBody>
      </p:sp>
      <p:sp>
        <p:nvSpPr>
          <p:cNvPr id="100007" name="TagLine"/>
          <p:cNvSpPr txBox="1"/>
          <p:nvPr/>
        </p:nvSpPr>
        <p:spPr>
          <a:xfrm xmlns:a="http://schemas.openxmlformats.org/drawingml/2006/main">
            <a:off x="720000" y="3960000"/>
            <a:ext cx="10080000" cy="25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400" b="0">
                <a:solidFill>
                  <a:srgbClr val="58A6FF"/>
                </a:solidFill>
              </a:rPr>
              <a:t>Macro price trends · Inflation adjustment · Fuel→Grocery lag · 3-year price forecasts</a:t>
            </a:r>
          </a:p>
        </p:txBody>
      </p:sp>
      <p:sp>
        <p:nvSpPr>
          <p:cNvPr id="100008" name="DataSource"/>
          <p:cNvSpPr txBox="1"/>
          <p:nvPr/>
        </p:nvSpPr>
        <p:spPr>
          <a:xfrm xmlns:a="http://schemas.openxmlformats.org/drawingml/2006/main">
            <a:off x="720000" y="6300000"/>
            <a:ext cx="10080000" cy="216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b="0">
                <a:solidFill>
                  <a:srgbClr val="484F58"/>
                </a:solidFill>
              </a:rPr>
              <a:t>Data: US Bureau of Labor Statistics (BLS) Average Retail Prices</a:t>
            </a:r>
          </a:p>
        </p:txBody>
      </p:sp>
    </p:spTree>
  </p:cSld>
</p:sld>
</file>

<file path=ppt/slides/slide2.xml><?xml version="1.0" encoding="utf-8"?>
<p:sld xmlns:a="http://schemas.openxmlformats.org/drawingml/2006/main" xmlns:p="http://schemas.openxmlformats.org/presentationml/2006/main">
  <p:cSld>
    <p:bg>
      <p:bgPr>
        <a:solidFill xmlns:a="http://schemas.openxmlformats.org/drawingml/2006/main">
          <a:srgbClr val="0D1117"/>
        </a:solidFill>
      </p:bgPr>
    </p:bg>
    <p:spTree>
      <p:nvGrpSpPr>
        <p:cNvPr id="1" name=""/>
        <p:cNvGrpSpPr/>
        <p:nvPr/>
      </p:nvGrpSpPr>
      <p:grpSpPr/>
      <p:sp>
        <p:nvSpPr>
          <p:cNvPr id="100009" name="TopBar"/>
          <p:cNvSpPr txBox="1"/>
          <p:nvPr/>
        </p:nvSpPr>
        <p:spPr>
          <a:xfrm xmlns:a="http://schemas.openxmlformats.org/drawingml/2006/main">
            <a:off x="0" y="0"/>
            <a:ext cx="12193200" cy="126000"/>
          </a:xfrm>
          <a:prstGeom xmlns:a="http://schemas.openxmlformats.org/drawingml/2006/main" prst="rect">
            <a:avLst/>
          </a:prstGeom>
          <a:solidFill xmlns:a="http://schemas.openxmlformats.org/drawingml/2006/main">
            <a:srgbClr val="1F6FEB"/>
          </a:solidFill>
        </p:spPr>
        <p:txBody>
          <a:bodyPr xmlns:a="http://schemas.openxmlformats.org/drawingml/2006/main"/>
          <a:lstStyle xmlns:a="http://schemas.openxmlformats.org/drawingml/2006/main"/>
          <a:p xmlns:a="http://schemas.openxmlformats.org/drawingml/2006/main">
            <a:endParaRPr lang="en-US">
              <a:solidFill>
                <a:srgbClr val="1F6FEB"/>
              </a:solidFill>
            </a:endParaRPr>
          </a:p>
        </p:txBody>
      </p:sp>
      <p:sp>
        <p:nvSpPr>
          <p:cNvPr id="100010" name="SlideNum"/>
          <p:cNvSpPr txBox="1"/>
          <p:nvPr/>
        </p:nvSpPr>
        <p:spPr>
          <a:xfrm xmlns:a="http://schemas.openxmlformats.org/drawingml/2006/main">
            <a:off x="10800000" y="6408000"/>
            <a:ext cx="1080000" cy="216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a:solidFill>
                  <a:srgbClr val="484F58"/>
                </a:solidFill>
              </a:rPr>
              <a:t>02</a:t>
            </a:r>
          </a:p>
        </p:txBody>
      </p:sp>
      <p:sp>
        <p:nvSpPr>
          <p:cNvPr id="100011" name="SlideLabel"/>
          <p:cNvSpPr txBox="1"/>
          <p:nvPr/>
        </p:nvSpPr>
        <p:spPr>
          <a:xfrm xmlns:a="http://schemas.openxmlformats.org/drawingml/2006/main">
            <a:off x="720000" y="252000"/>
            <a:ext cx="5400000" cy="216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000" b="1">
                <a:solidFill>
                  <a:srgbClr val="58A6FF"/>
                </a:solidFill>
              </a:rPr>
              <a:t>PROJECT OVERVIEW</a:t>
            </a:r>
          </a:p>
        </p:txBody>
      </p:sp>
      <p:sp>
        <p:nvSpPr>
          <p:cNvPr id="100012" name="Title"/>
          <p:cNvSpPr txBox="1"/>
          <p:nvPr/>
        </p:nvSpPr>
        <p:spPr>
          <a:xfrm xmlns:a="http://schemas.openxmlformats.org/drawingml/2006/main">
            <a:off x="720000" y="540000"/>
            <a:ext cx="10080000" cy="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600" b="1">
                <a:solidFill>
                  <a:srgbClr val="E6EDF3"/>
                </a:solidFill>
              </a:rPr>
              <a:t>Project Overview</a:t>
            </a:r>
          </a:p>
        </p:txBody>
      </p:sp>
      <p:sp>
        <p:nvSpPr>
          <p:cNvPr id="100013" name="TitleUnderline"/>
          <p:cNvSpPr txBox="1"/>
          <p:nvPr/>
        </p:nvSpPr>
        <p:spPr>
          <a:xfrm xmlns:a="http://schemas.openxmlformats.org/drawingml/2006/main">
            <a:off x="720000" y="1116000"/>
            <a:ext cx="10753200" cy="18000"/>
          </a:xfrm>
          <a:prstGeom xmlns:a="http://schemas.openxmlformats.org/drawingml/2006/main" prst="rect">
            <a:avLst/>
          </a:prstGeom>
          <a:solidFill xmlns:a="http://schemas.openxmlformats.org/drawingml/2006/main">
            <a:srgbClr val="21262D"/>
          </a:solidFill>
        </p:spPr>
        <p:txBody>
          <a:bodyPr xmlns:a="http://schemas.openxmlformats.org/drawingml/2006/main"/>
          <a:lstStyle xmlns:a="http://schemas.openxmlformats.org/drawingml/2006/main"/>
          <a:p xmlns:a="http://schemas.openxmlformats.org/drawingml/2006/main">
            <a:endParaRPr lang="en-US">
              <a:solidFill>
                <a:srgbClr val="21262D"/>
              </a:solidFill>
            </a:endParaRPr>
          </a:p>
        </p:txBody>
      </p:sp>
      <p:sp>
        <p:nvSpPr>
          <p:cNvPr id="100014" name="Objective"/>
          <p:cNvSpPr txBox="1"/>
          <p:nvPr/>
        </p:nvSpPr>
        <p:spPr>
          <a:xfrm xmlns:a="http://schemas.openxmlformats.org/drawingml/2006/main">
            <a:off x="720000" y="1260000"/>
            <a:ext cx="504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800" b="1">
                <a:solidFill>
                  <a:srgbClr val="58A6FF"/>
                </a:solidFill>
              </a:rPr>
              <a:t>Objective</a:t>
            </a:r>
          </a:p>
        </p:txBody>
      </p:sp>
      <p:sp>
        <p:nvSpPr>
          <p:cNvPr id="100015" name="ObjectiveText"/>
          <p:cNvSpPr txBox="1"/>
          <p:nvPr/>
        </p:nvSpPr>
        <p:spPr>
          <a:xfrm xmlns:a="http://schemas.openxmlformats.org/drawingml/2006/main">
            <a:off x="720000" y="1584000"/>
            <a:ext cx="5040000" cy="14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600">
                <a:solidFill>
                  <a:srgbClr val="C9D1D9"/>
                </a:solidFill>
              </a:rPr>
              <a:t>Build a production-ready, interactive web application to analyze US average retail prices for grocery staples and gasoline from 2015 to 2026, revealing macro trends, inflation-adjusted costs, supply-chain lag effects, and future price trajectories.</a:t>
            </a:r>
          </a:p>
        </p:txBody>
      </p:sp>
      <p:sp>
        <p:nvSpPr>
          <p:cNvPr id="100016" name="ScopeHeader"/>
          <p:cNvSpPr txBox="1"/>
          <p:nvPr/>
        </p:nvSpPr>
        <p:spPr>
          <a:xfrm xmlns:a="http://schemas.openxmlformats.org/drawingml/2006/main">
            <a:off x="6480000" y="1260000"/>
            <a:ext cx="486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800" b="1">
                <a:solidFill>
                  <a:srgbClr val="3FB950"/>
                </a:solidFill>
              </a:rPr>
              <a:t>Scope</a:t>
            </a:r>
          </a:p>
        </p:txBody>
      </p:sp>
      <p:sp>
        <p:nvSpPr>
          <p:cNvPr id="100017" name="ScopeText"/>
          <p:cNvSpPr txBox="1"/>
          <p:nvPr/>
        </p:nvSpPr>
        <p:spPr>
          <a:xfrm xmlns:a="http://schemas.openxmlformats.org/drawingml/2006/main">
            <a:off x="6480000" y="1584000"/>
            <a:ext cx="4860000" cy="14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600">
                <a:solidFill>
                  <a:srgbClr val="C9D1D9"/>
                </a:solidFill>
              </a:rPr>
              <a:t>• 18+ grocery categories (meat, dairy, produce, staples)</a:t>
            </a:r>
          </a:p>
          <a:p xmlns:a="http://schemas.openxmlformats.org/drawingml/2006/main">
            <a:r>
              <a:rPr lang="en-US" sz="1600">
                <a:solidFill>
                  <a:srgbClr val="C9D1D9"/>
                </a:solidFill>
              </a:rPr>
              <a:t>• Gasoline &amp; utility gas prices</a:t>
            </a:r>
          </a:p>
          <a:p xmlns:a="http://schemas.openxmlformats.org/drawingml/2006/main">
            <a:r>
              <a:rPr lang="en-US" sz="1600">
                <a:solidFill>
                  <a:srgbClr val="C9D1D9"/>
                </a:solidFill>
              </a:rPr>
              <a:t>• Monthly data: Jan 2015 – 2026</a:t>
            </a:r>
          </a:p>
          <a:p xmlns:a="http://schemas.openxmlformats.org/drawingml/2006/main">
            <a:r>
              <a:rPr lang="en-US" sz="1600">
                <a:solidFill>
                  <a:srgbClr val="C9D1D9"/>
                </a:solidFill>
              </a:rPr>
              <a:t>• 3 source datasets from BLS</a:t>
            </a:r>
          </a:p>
        </p:txBody>
      </p:sp>
      <p:sp>
        <p:nvSpPr>
          <p:cNvPr id="100018" name="KeyDelivBox"/>
          <p:cNvSpPr txBox="1"/>
          <p:nvPr/>
        </p:nvSpPr>
        <p:spPr>
          <a:xfrm xmlns:a="http://schemas.openxmlformats.org/drawingml/2006/main">
            <a:off x="720000" y="3312000"/>
            <a:ext cx="10753200" cy="2700000"/>
          </a:xfrm>
          <a:prstGeom xmlns:a="http://schemas.openxmlformats.org/drawingml/2006/main" prst="rect">
            <a:avLst/>
          </a:prstGeom>
          <a:solidFill xmlns:a="http://schemas.openxmlformats.org/drawingml/2006/main">
            <a:srgbClr val="161B22"/>
          </a:solidFill>
        </p:spPr>
        <p:txBody>
          <a:bodyPr xmlns:a="http://schemas.openxmlformats.org/drawingml/2006/main"/>
          <a:lstStyle xmlns:a="http://schemas.openxmlformats.org/drawingml/2006/main"/>
          <a:p xmlns:a="http://schemas.openxmlformats.org/drawingml/2006/main">
            <a:endParaRPr lang="en-US">
              <a:solidFill>
                <a:srgbClr val="30363D"/>
              </a:solidFill>
            </a:endParaRPr>
          </a:p>
        </p:txBody>
      </p:sp>
      <p:sp>
        <p:nvSpPr>
          <p:cNvPr id="100019" name="KeyDelivHeader"/>
          <p:cNvSpPr txBox="1"/>
          <p:nvPr/>
        </p:nvSpPr>
        <p:spPr>
          <a:xfrm xmlns:a="http://schemas.openxmlformats.org/drawingml/2006/main">
            <a:off x="900000" y="3420000"/>
            <a:ext cx="10080000" cy="216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b="1">
                <a:solidFill>
                  <a:srgbClr val="8B949E"/>
                </a:solidFill>
              </a:rPr>
              <a:t>KEY DELIVERABLES</a:t>
            </a:r>
          </a:p>
        </p:txBody>
      </p:sp>
      <p:sp>
        <p:nvSpPr>
          <p:cNvPr id="100020" name="Deliv1"/>
          <p:cNvSpPr txBox="1"/>
          <p:nvPr/>
        </p:nvSpPr>
        <p:spPr>
          <a:xfrm xmlns:a="http://schemas.openxmlformats.org/drawingml/2006/main">
            <a:off x="900000" y="3708000"/>
            <a:ext cx="2520000" cy="64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a:solidFill>
                  <a:srgbClr val="C9D1D9"/>
                </a:solidFill>
              </a:rPr>
              <a:t>DATA PIPELINE</a:t>
            </a:r>
          </a:p>
          <a:p xmlns:a="http://schemas.openxmlformats.org/drawingml/2006/main">
            <a:r>
              <a:rPr lang="en-US" sz="1300">
                <a:solidFill>
                  <a:srgbClr val="C9D1D9"/>
                </a:solidFill>
              </a:rPr>
              <a:t>Auto-detect, parse &amp; forward-fill 3 BLS datasets</a:t>
            </a:r>
          </a:p>
        </p:txBody>
      </p:sp>
      <p:sp>
        <p:nvSpPr>
          <p:cNvPr id="100021" name="Deliv2"/>
          <p:cNvSpPr txBox="1"/>
          <p:nvPr/>
        </p:nvSpPr>
        <p:spPr>
          <a:xfrm xmlns:a="http://schemas.openxmlformats.org/drawingml/2006/main">
            <a:off x="3780000" y="3708000"/>
            <a:ext cx="2520000" cy="64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a:solidFill>
                  <a:srgbClr val="C9D1D9"/>
                </a:solidFill>
              </a:rPr>
              <a:t>MACRO FILTERS</a:t>
            </a:r>
          </a:p>
          <a:p xmlns:a="http://schemas.openxmlformats.org/drawingml/2006/main">
            <a:r>
              <a:rPr lang="en-US" sz="1300">
                <a:solidFill>
                  <a:srgbClr val="C9D1D9"/>
                </a:solidFill>
              </a:rPr>
              <a:t>12-month rolling average toggle for trend analysis</a:t>
            </a:r>
          </a:p>
        </p:txBody>
      </p:sp>
      <p:sp>
        <p:nvSpPr>
          <p:cNvPr id="100022" name="Deliv3"/>
          <p:cNvSpPr txBox="1"/>
          <p:nvPr/>
        </p:nvSpPr>
        <p:spPr>
          <a:xfrm xmlns:a="http://schemas.openxmlformats.org/drawingml/2006/main">
            <a:off x="6660000" y="3708000"/>
            <a:ext cx="2520000" cy="64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a:solidFill>
                  <a:srgbClr val="C9D1D9"/>
                </a:solidFill>
              </a:rPr>
              <a:t>INFLATION ADJUSTMENT</a:t>
            </a:r>
          </a:p>
          <a:p xmlns:a="http://schemas.openxmlformats.org/drawingml/2006/main">
            <a:r>
              <a:rPr lang="en-US" sz="1300">
                <a:solidFill>
                  <a:srgbClr val="C9D1D9"/>
                </a:solidFill>
              </a:rPr>
              <a:t>Deflate nominal prices to real 2015 baseline</a:t>
            </a:r>
          </a:p>
        </p:txBody>
      </p:sp>
      <p:sp>
        <p:nvSpPr>
          <p:cNvPr id="100023" name="Deliv4"/>
          <p:cNvSpPr txBox="1"/>
          <p:nvPr/>
        </p:nvSpPr>
        <p:spPr>
          <a:xfrm xmlns:a="http://schemas.openxmlformats.org/drawingml/2006/main">
            <a:off x="900000" y="4500000"/>
            <a:ext cx="2520000" cy="64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a:solidFill>
                  <a:srgbClr val="C9D1D9"/>
                </a:solidFill>
              </a:rPr>
              <a:t>LAG CORRELATION</a:t>
            </a:r>
          </a:p>
          <a:p xmlns:a="http://schemas.openxmlformats.org/drawingml/2006/main">
            <a:r>
              <a:rPr lang="en-US" sz="1300">
                <a:solidFill>
                  <a:srgbClr val="C9D1D9"/>
                </a:solidFill>
              </a:rPr>
              <a:t>Fuel→Grocery 0–12 month Pearson lag engine</a:t>
            </a:r>
          </a:p>
        </p:txBody>
      </p:sp>
      <p:sp>
        <p:nvSpPr>
          <p:cNvPr id="100024" name="Deliv5"/>
          <p:cNvSpPr txBox="1"/>
          <p:nvPr/>
        </p:nvSpPr>
        <p:spPr>
          <a:xfrm xmlns:a="http://schemas.openxmlformats.org/drawingml/2006/main">
            <a:off x="3780000" y="4500000"/>
            <a:ext cx="2520000" cy="64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a:solidFill>
                  <a:srgbClr val="C9D1D9"/>
                </a:solidFill>
              </a:rPr>
              <a:t>PRICE FORECAST</a:t>
            </a:r>
          </a:p>
          <a:p xmlns:a="http://schemas.openxmlformats.org/drawingml/2006/main">
            <a:r>
              <a:rPr lang="en-US" sz="1300">
                <a:solidFill>
                  <a:srgbClr val="C9D1D9"/>
                </a:solidFill>
              </a:rPr>
              <a:t>Prophet + linear regression 3-year projections</a:t>
            </a:r>
          </a:p>
        </p:txBody>
      </p:sp>
      <p:sp>
        <p:nvSpPr>
          <p:cNvPr id="100025" name="Deliv6"/>
          <p:cNvSpPr txBox="1"/>
          <p:nvPr/>
        </p:nvSpPr>
        <p:spPr>
          <a:xfrm xmlns:a="http://schemas.openxmlformats.org/drawingml/2006/main">
            <a:off x="6660000" y="4500000"/>
            <a:ext cx="2520000" cy="64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a:solidFill>
                  <a:srgbClr val="C9D1D9"/>
                </a:solidFill>
              </a:rPr>
              <a:t>AI INSIGHTS</a:t>
            </a:r>
          </a:p>
          <a:p xmlns:a="http://schemas.openxmlformats.org/drawingml/2006/main">
            <a:r>
              <a:rPr lang="en-US" sz="1300">
                <a:solidFill>
                  <a:srgbClr val="C9D1D9"/>
                </a:solidFill>
              </a:rPr>
              <a:t>Dynamic business &amp; policy recommendations</a:t>
            </a:r>
          </a:p>
        </p:txBody>
      </p:sp>
    </p:spTree>
  </p:cSld>
</p:sld>
</file>

<file path=ppt/slides/slide3.xml><?xml version="1.0" encoding="utf-8"?>
<p:sld xmlns:a="http://schemas.openxmlformats.org/drawingml/2006/main" xmlns:p="http://schemas.openxmlformats.org/presentationml/2006/main">
  <p:cSld>
    <p:bg>
      <p:bgPr>
        <a:solidFill xmlns:a="http://schemas.openxmlformats.org/drawingml/2006/main">
          <a:srgbClr val="0D1117"/>
        </a:solidFill>
      </p:bgPr>
    </p:bg>
    <p:spTree>
      <p:nvGrpSpPr>
        <p:cNvPr id="1" name=""/>
        <p:cNvGrpSpPr/>
        <p:nvPr/>
      </p:nvGrpSpPr>
      <p:grpSpPr/>
      <p:sp>
        <p:nvSpPr>
          <p:cNvPr id="100026" name="TopBar"/>
          <p:cNvSpPr txBox="1"/>
          <p:nvPr/>
        </p:nvSpPr>
        <p:spPr>
          <a:xfrm xmlns:a="http://schemas.openxmlformats.org/drawingml/2006/main">
            <a:off x="0" y="0"/>
            <a:ext cx="12193200" cy="126000"/>
          </a:xfrm>
          <a:prstGeom xmlns:a="http://schemas.openxmlformats.org/drawingml/2006/main" prst="rect">
            <a:avLst/>
          </a:prstGeom>
          <a:solidFill xmlns:a="http://schemas.openxmlformats.org/drawingml/2006/main">
            <a:srgbClr val="1F6FEB"/>
          </a:solidFill>
        </p:spPr>
        <p:txBody>
          <a:bodyPr xmlns:a="http://schemas.openxmlformats.org/drawingml/2006/main"/>
          <a:lstStyle xmlns:a="http://schemas.openxmlformats.org/drawingml/2006/main"/>
          <a:p xmlns:a="http://schemas.openxmlformats.org/drawingml/2006/main">
            <a:endParaRPr lang="en-US">
              <a:solidFill>
                <a:srgbClr val="1F6FEB"/>
              </a:solidFill>
            </a:endParaRPr>
          </a:p>
        </p:txBody>
      </p:sp>
      <p:sp>
        <p:nvSpPr>
          <p:cNvPr id="100027" name="SlideLabel"/>
          <p:cNvSpPr txBox="1"/>
          <p:nvPr/>
        </p:nvSpPr>
        <p:spPr>
          <a:xfrm xmlns:a="http://schemas.openxmlformats.org/drawingml/2006/main">
            <a:off x="720000" y="252000"/>
            <a:ext cx="5400000" cy="216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000" b="1">
                <a:solidFill>
                  <a:srgbClr val="58A6FF"/>
                </a:solidFill>
              </a:rPr>
              <a:t>DATASET OVERVIEW</a:t>
            </a:r>
          </a:p>
        </p:txBody>
      </p:sp>
      <p:sp>
        <p:nvSpPr>
          <p:cNvPr id="100028" name="SlideNum"/>
          <p:cNvSpPr txBox="1"/>
          <p:nvPr/>
        </p:nvSpPr>
        <p:spPr>
          <a:xfrm xmlns:a="http://schemas.openxmlformats.org/drawingml/2006/main">
            <a:off x="10800000" y="6408000"/>
            <a:ext cx="1080000" cy="216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a:solidFill>
                  <a:srgbClr val="484F58"/>
                </a:solidFill>
              </a:rPr>
              <a:t>03</a:t>
            </a:r>
          </a:p>
        </p:txBody>
      </p:sp>
      <p:sp>
        <p:nvSpPr>
          <p:cNvPr id="100029" name="Title"/>
          <p:cNvSpPr txBox="1"/>
          <p:nvPr/>
        </p:nvSpPr>
        <p:spPr>
          <a:xfrm xmlns:a="http://schemas.openxmlformats.org/drawingml/2006/main">
            <a:off x="720000" y="540000"/>
            <a:ext cx="10080000" cy="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600" b="1">
                <a:solidFill>
                  <a:srgbClr val="E6EDF3"/>
                </a:solidFill>
              </a:rPr>
              <a:t>Dataset Overview</a:t>
            </a:r>
          </a:p>
        </p:txBody>
      </p:sp>
      <p:sp>
        <p:nvSpPr>
          <p:cNvPr id="100030" name="Divider"/>
          <p:cNvSpPr txBox="1"/>
          <p:nvPr/>
        </p:nvSpPr>
        <p:spPr>
          <a:xfrm xmlns:a="http://schemas.openxmlformats.org/drawingml/2006/main">
            <a:off x="720000" y="1116000"/>
            <a:ext cx="10753200" cy="18000"/>
          </a:xfrm>
          <a:prstGeom xmlns:a="http://schemas.openxmlformats.org/drawingml/2006/main" prst="rect">
            <a:avLst/>
          </a:prstGeom>
          <a:solidFill xmlns:a="http://schemas.openxmlformats.org/drawingml/2006/main">
            <a:srgbClr val="21262D"/>
          </a:solidFill>
        </p:spPr>
        <p:txBody>
          <a:bodyPr xmlns:a="http://schemas.openxmlformats.org/drawingml/2006/main"/>
          <a:lstStyle xmlns:a="http://schemas.openxmlformats.org/drawingml/2006/main"/>
          <a:p xmlns:a="http://schemas.openxmlformats.org/drawingml/2006/main">
            <a:endParaRPr lang="en-US">
              <a:solidFill>
                <a:srgbClr val="21262D"/>
              </a:solidFill>
            </a:endParaRPr>
          </a:p>
        </p:txBody>
      </p:sp>
      <p:sp>
        <p:nvSpPr>
          <p:cNvPr id="100031" name="DS1Box"/>
          <p:cNvSpPr txBox="1"/>
          <p:nvPr/>
        </p:nvSpPr>
        <p:spPr>
          <a:xfrm xmlns:a="http://schemas.openxmlformats.org/drawingml/2006/main">
            <a:off x="720000" y="1260000"/>
            <a:ext cx="3420000" cy="2340000"/>
          </a:xfrm>
          <a:prstGeom xmlns:a="http://schemas.openxmlformats.org/drawingml/2006/main" prst="rect">
            <a:avLst/>
          </a:prstGeom>
          <a:solidFill xmlns:a="http://schemas.openxmlformats.org/drawingml/2006/main">
            <a:srgbClr val="161B22"/>
          </a:solidFill>
        </p:spPr>
        <p:txBody>
          <a:bodyPr xmlns:a="http://schemas.openxmlformats.org/drawingml/2006/main"/>
          <a:lstStyle xmlns:a="http://schemas.openxmlformats.org/drawingml/2006/main"/>
          <a:p xmlns:a="http://schemas.openxmlformats.org/drawingml/2006/main">
            <a:endParaRPr lang="en-US">
              <a:solidFill>
                <a:srgbClr val="1F6FEB"/>
              </a:solidFill>
            </a:endParaRPr>
          </a:p>
        </p:txBody>
      </p:sp>
      <p:sp>
        <p:nvSpPr>
          <p:cNvPr id="100032" name="DS1Icon"/>
          <p:cNvSpPr txBox="1"/>
          <p:nvPr/>
        </p:nvSpPr>
        <p:spPr>
          <a:xfrm xmlns:a="http://schemas.openxmlformats.org/drawingml/2006/main">
            <a:off x="864000" y="1332000"/>
            <a:ext cx="720000" cy="36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200">
                <a:solidFill>
                  <a:srgbClr val="FFFFFF"/>
                </a:solidFill>
              </a:rPr>
              <a:t>📊</a:t>
            </a:r>
          </a:p>
        </p:txBody>
      </p:sp>
      <p:sp>
        <p:nvSpPr>
          <p:cNvPr id="100033" name="DS1Title"/>
          <p:cNvSpPr txBox="1"/>
          <p:nvPr/>
        </p:nvSpPr>
        <p:spPr>
          <a:xfrm xmlns:a="http://schemas.openxmlformats.org/drawingml/2006/main">
            <a:off x="864000" y="1728000"/>
            <a:ext cx="3240000" cy="25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b="1">
                <a:solidFill>
                  <a:srgbClr val="58A6FF"/>
                </a:solidFill>
              </a:rPr>
              <a:t>us_average_prices_wide.csv</a:t>
            </a:r>
          </a:p>
        </p:txBody>
      </p:sp>
      <p:sp>
        <p:nvSpPr>
          <p:cNvPr id="100034" name="DS1Body"/>
          <p:cNvSpPr txBox="1"/>
          <p:nvPr/>
        </p:nvSpPr>
        <p:spPr>
          <a:xfrm xmlns:a="http://schemas.openxmlformats.org/drawingml/2006/main">
            <a:off x="864000" y="2016000"/>
            <a:ext cx="3168000" cy="14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400">
                <a:solidFill>
                  <a:srgbClr val="C9D1D9"/>
                </a:solidFill>
              </a:rPr>
              <a:t>Format: Wide (pivoted)</a:t>
            </a:r>
          </a:p>
          <a:p xmlns:a="http://schemas.openxmlformats.org/drawingml/2006/main">
            <a:r>
              <a:rPr lang="en-US" sz="1400">
                <a:solidFill>
                  <a:srgbClr val="C9D1D9"/>
                </a:solidFill>
              </a:rPr>
              <a:t/>
            </a:r>
          </a:p>
          <a:p xmlns:a="http://schemas.openxmlformats.org/drawingml/2006/main">
            <a:r>
              <a:rPr lang="en-US" sz="1400">
                <a:solidFill>
                  <a:srgbClr val="C9D1D9"/>
                </a:solidFill>
              </a:rPr>
              <a:t>Rows = monthly dates</a:t>
            </a:r>
          </a:p>
          <a:p xmlns:a="http://schemas.openxmlformats.org/drawingml/2006/main">
            <a:r>
              <a:rPr lang="en-US" sz="1400">
                <a:solidFill>
                  <a:srgbClr val="C9D1D9"/>
                </a:solidFill>
              </a:rPr>
              <a:t>Columns = individual price items</a:t>
            </a:r>
          </a:p>
          <a:p xmlns:a="http://schemas.openxmlformats.org/drawingml/2006/main">
            <a:r>
              <a:rPr lang="en-US" sz="1400">
                <a:solidFill>
                  <a:srgbClr val="C9D1D9"/>
                </a:solidFill>
              </a:rPr>
              <a:t/>
            </a:r>
          </a:p>
          <a:p xmlns:a="http://schemas.openxmlformats.org/drawingml/2006/main">
            <a:r>
              <a:rPr lang="en-US" sz="1400">
                <a:solidFill>
                  <a:srgbClr val="C9D1D9"/>
                </a:solidFill>
              </a:rPr>
              <a:t>Use: Primary time-series source for all charts, KPIs, and forecasting.</a:t>
            </a:r>
          </a:p>
          <a:p xmlns:a="http://schemas.openxmlformats.org/drawingml/2006/main">
            <a:r>
              <a:rPr lang="en-US" sz="1400">
                <a:solidFill>
                  <a:srgbClr val="C9D1D9"/>
                </a:solidFill>
              </a:rPr>
              <a:t/>
            </a:r>
          </a:p>
          <a:p xmlns:a="http://schemas.openxmlformats.org/drawingml/2006/main">
            <a:r>
              <a:rPr lang="en-US" sz="1400">
                <a:solidFill>
                  <a:srgbClr val="C9D1D9"/>
                </a:solidFill>
              </a:rPr>
              <a:t>Date range: Jan 2015 – 2026</a:t>
            </a:r>
          </a:p>
        </p:txBody>
      </p:sp>
      <p:sp>
        <p:nvSpPr>
          <p:cNvPr id="100035" name="DS2Box"/>
          <p:cNvSpPr txBox="1"/>
          <p:nvPr/>
        </p:nvSpPr>
        <p:spPr>
          <a:xfrm xmlns:a="http://schemas.openxmlformats.org/drawingml/2006/main">
            <a:off x="4500000" y="1260000"/>
            <a:ext cx="3420000" cy="2340000"/>
          </a:xfrm>
          <a:prstGeom xmlns:a="http://schemas.openxmlformats.org/drawingml/2006/main" prst="rect">
            <a:avLst/>
          </a:prstGeom>
          <a:solidFill xmlns:a="http://schemas.openxmlformats.org/drawingml/2006/main">
            <a:srgbClr val="161B22"/>
          </a:solidFill>
        </p:spPr>
        <p:txBody>
          <a:bodyPr xmlns:a="http://schemas.openxmlformats.org/drawingml/2006/main"/>
          <a:lstStyle xmlns:a="http://schemas.openxmlformats.org/drawingml/2006/main"/>
          <a:p xmlns:a="http://schemas.openxmlformats.org/drawingml/2006/main">
            <a:endParaRPr lang="en-US">
              <a:solidFill>
                <a:srgbClr val="3FB950"/>
              </a:solidFill>
            </a:endParaRPr>
          </a:p>
        </p:txBody>
      </p:sp>
      <p:sp>
        <p:nvSpPr>
          <p:cNvPr id="100036" name="DS2Icon"/>
          <p:cNvSpPr txBox="1"/>
          <p:nvPr/>
        </p:nvSpPr>
        <p:spPr>
          <a:xfrm xmlns:a="http://schemas.openxmlformats.org/drawingml/2006/main">
            <a:off x="4644000" y="1332000"/>
            <a:ext cx="720000" cy="36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200">
                <a:solidFill>
                  <a:srgbClr val="FFFFFF"/>
                </a:solidFill>
              </a:rPr>
              <a:t>📅</a:t>
            </a:r>
          </a:p>
        </p:txBody>
      </p:sp>
      <p:sp>
        <p:nvSpPr>
          <p:cNvPr id="100037" name="DS2Title"/>
          <p:cNvSpPr txBox="1"/>
          <p:nvPr/>
        </p:nvSpPr>
        <p:spPr>
          <a:xfrm xmlns:a="http://schemas.openxmlformats.org/drawingml/2006/main">
            <a:off x="4644000" y="1728000"/>
            <a:ext cx="3240000" cy="25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b="1">
                <a:solidFill>
                  <a:srgbClr val="3FB950"/>
                </a:solidFill>
              </a:rPr>
              <a:t>us_average_prices_monthly.csv</a:t>
            </a:r>
          </a:p>
        </p:txBody>
      </p:sp>
      <p:sp>
        <p:nvSpPr>
          <p:cNvPr id="100038" name="DS2Body"/>
          <p:cNvSpPr txBox="1"/>
          <p:nvPr/>
        </p:nvSpPr>
        <p:spPr>
          <a:xfrm xmlns:a="http://schemas.openxmlformats.org/drawingml/2006/main">
            <a:off x="4644000" y="2016000"/>
            <a:ext cx="3168000" cy="14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400">
                <a:solidFill>
                  <a:srgbClr val="C9D1D9"/>
                </a:solidFill>
              </a:rPr>
              <a:t>Format: Long (tidy)</a:t>
            </a:r>
          </a:p>
          <a:p xmlns:a="http://schemas.openxmlformats.org/drawingml/2006/main">
            <a:r>
              <a:rPr lang="en-US" sz="1400">
                <a:solidFill>
                  <a:srgbClr val="C9D1D9"/>
                </a:solidFill>
              </a:rPr>
              <a:t/>
            </a:r>
          </a:p>
          <a:p xmlns:a="http://schemas.openxmlformats.org/drawingml/2006/main">
            <a:r>
              <a:rPr lang="en-US" sz="1400">
                <a:solidFill>
                  <a:srgbClr val="C9D1D9"/>
                </a:solidFill>
              </a:rPr>
              <a:t>Rows = one price observation</a:t>
            </a:r>
          </a:p>
          <a:p xmlns:a="http://schemas.openxmlformats.org/drawingml/2006/main">
            <a:r>
              <a:rPr lang="en-US" sz="1400">
                <a:solidFill>
                  <a:srgbClr val="C9D1D9"/>
                </a:solidFill>
              </a:rPr>
              <a:t>Columns = date, item, price</a:t>
            </a:r>
          </a:p>
          <a:p xmlns:a="http://schemas.openxmlformats.org/drawingml/2006/main">
            <a:r>
              <a:rPr lang="en-US" sz="1400">
                <a:solidFill>
                  <a:srgbClr val="C9D1D9"/>
                </a:solidFill>
              </a:rPr>
              <a:t/>
            </a:r>
          </a:p>
          <a:p xmlns:a="http://schemas.openxmlformats.org/drawingml/2006/main">
            <a:r>
              <a:rPr lang="en-US" sz="1400">
                <a:solidFill>
                  <a:srgbClr val="C9D1D9"/>
                </a:solidFill>
              </a:rPr>
              <a:t>Use: Supplementary merge source; pivoted and unioned with the wide dataset to fill coverage gaps.</a:t>
            </a:r>
          </a:p>
          <a:p xmlns:a="http://schemas.openxmlformats.org/drawingml/2006/main">
            <a:r>
              <a:rPr lang="en-US" sz="1400">
                <a:solidFill>
                  <a:srgbClr val="C9D1D9"/>
                </a:solidFill>
              </a:rPr>
              <a:t/>
            </a:r>
          </a:p>
          <a:p xmlns:a="http://schemas.openxmlformats.org/drawingml/2006/main">
            <a:r>
              <a:rPr lang="en-US" sz="1400">
                <a:solidFill>
                  <a:srgbClr val="C9D1D9"/>
                </a:solidFill>
              </a:rPr>
              <a:t>Granularity: Monthly</a:t>
            </a:r>
          </a:p>
        </p:txBody>
      </p:sp>
      <p:sp>
        <p:nvSpPr>
          <p:cNvPr id="100039" name="DS3Box"/>
          <p:cNvSpPr txBox="1"/>
          <p:nvPr/>
        </p:nvSpPr>
        <p:spPr>
          <a:xfrm xmlns:a="http://schemas.openxmlformats.org/drawingml/2006/main">
            <a:off x="8280000" y="1260000"/>
            <a:ext cx="3420000" cy="2340000"/>
          </a:xfrm>
          <a:prstGeom xmlns:a="http://schemas.openxmlformats.org/drawingml/2006/main" prst="rect">
            <a:avLst/>
          </a:prstGeom>
          <a:solidFill xmlns:a="http://schemas.openxmlformats.org/drawingml/2006/main">
            <a:srgbClr val="161B22"/>
          </a:solidFill>
        </p:spPr>
        <p:txBody>
          <a:bodyPr xmlns:a="http://schemas.openxmlformats.org/drawingml/2006/main"/>
          <a:lstStyle xmlns:a="http://schemas.openxmlformats.org/drawingml/2006/main"/>
          <a:p xmlns:a="http://schemas.openxmlformats.org/drawingml/2006/main">
            <a:endParaRPr lang="en-US">
              <a:solidFill>
                <a:srgbClr val="E3B341"/>
              </a:solidFill>
            </a:endParaRPr>
          </a:p>
        </p:txBody>
      </p:sp>
      <p:sp>
        <p:nvSpPr>
          <p:cNvPr id="100040" name="DS3Icon"/>
          <p:cNvSpPr txBox="1"/>
          <p:nvPr/>
        </p:nvSpPr>
        <p:spPr>
          <a:xfrm xmlns:a="http://schemas.openxmlformats.org/drawingml/2006/main">
            <a:off x="8424000" y="1332000"/>
            <a:ext cx="720000" cy="36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200">
                <a:solidFill>
                  <a:srgbClr val="FFFFFF"/>
                </a:solidFill>
              </a:rPr>
              <a:t>📋</a:t>
            </a:r>
          </a:p>
        </p:txBody>
      </p:sp>
      <p:sp>
        <p:nvSpPr>
          <p:cNvPr id="100041" name="DS3Title"/>
          <p:cNvSpPr txBox="1"/>
          <p:nvPr/>
        </p:nvSpPr>
        <p:spPr>
          <a:xfrm xmlns:a="http://schemas.openxmlformats.org/drawingml/2006/main">
            <a:off x="8424000" y="1728000"/>
            <a:ext cx="3240000" cy="25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b="1">
                <a:solidFill>
                  <a:srgbClr val="E3B341"/>
                </a:solidFill>
              </a:rPr>
              <a:t>us_average_prices_item_summary.csv</a:t>
            </a:r>
          </a:p>
        </p:txBody>
      </p:sp>
      <p:sp>
        <p:nvSpPr>
          <p:cNvPr id="100042" name="DS3Body"/>
          <p:cNvSpPr txBox="1"/>
          <p:nvPr/>
        </p:nvSpPr>
        <p:spPr>
          <a:xfrm xmlns:a="http://schemas.openxmlformats.org/drawingml/2006/main">
            <a:off x="8424000" y="2016000"/>
            <a:ext cx="3168000" cy="14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400">
                <a:solidFill>
                  <a:srgbClr val="C9D1D9"/>
                </a:solidFill>
              </a:rPr>
              <a:t>Format: Pre-aggregated</a:t>
            </a:r>
          </a:p>
          <a:p xmlns:a="http://schemas.openxmlformats.org/drawingml/2006/main">
            <a:r>
              <a:rPr lang="en-US" sz="1400">
                <a:solidFill>
                  <a:srgbClr val="C9D1D9"/>
                </a:solidFill>
              </a:rPr>
              <a:t/>
            </a:r>
          </a:p>
          <a:p xmlns:a="http://schemas.openxmlformats.org/drawingml/2006/main">
            <a:r>
              <a:rPr lang="en-US" sz="1400">
                <a:solidFill>
                  <a:srgbClr val="C9D1D9"/>
                </a:solidFill>
              </a:rPr>
              <a:t>One row per item</a:t>
            </a:r>
          </a:p>
          <a:p xmlns:a="http://schemas.openxmlformats.org/drawingml/2006/main">
            <a:r>
              <a:rPr lang="en-US" sz="1400">
                <a:solidFill>
                  <a:srgbClr val="C9D1D9"/>
                </a:solidFill>
              </a:rPr>
              <a:t>Columns = min, max, mean, std dev</a:t>
            </a:r>
          </a:p>
          <a:p xmlns:a="http://schemas.openxmlformats.org/drawingml/2006/main">
            <a:r>
              <a:rPr lang="en-US" sz="1400">
                <a:solidFill>
                  <a:srgbClr val="C9D1D9"/>
                </a:solidFill>
              </a:rPr>
              <a:t/>
            </a:r>
          </a:p>
          <a:p xmlns:a="http://schemas.openxmlformats.org/drawingml/2006/main">
            <a:r>
              <a:rPr lang="en-US" sz="1400">
                <a:solidFill>
                  <a:srgbClr val="C9D1D9"/>
                </a:solidFill>
              </a:rPr>
              <a:t>Use: Displayed in the Data Explorer tab's summary statistics panel. Quick reference view.</a:t>
            </a:r>
          </a:p>
          <a:p xmlns:a="http://schemas.openxmlformats.org/drawingml/2006/main">
            <a:r>
              <a:rPr lang="en-US" sz="1400">
                <a:solidFill>
                  <a:srgbClr val="C9D1D9"/>
                </a:solidFill>
              </a:rPr>
              <a:t/>
            </a:r>
          </a:p>
          <a:p xmlns:a="http://schemas.openxmlformats.org/drawingml/2006/main">
            <a:r>
              <a:rPr lang="en-US" sz="1400">
                <a:solidFill>
                  <a:srgbClr val="C9D1D9"/>
                </a:solidFill>
              </a:rPr>
              <a:t>Scope: All tracked items</a:t>
            </a:r>
          </a:p>
        </p:txBody>
      </p:sp>
      <p:sp>
        <p:nvSpPr>
          <p:cNvPr id="100043" name="PipelineHeader"/>
          <p:cNvSpPr txBox="1"/>
          <p:nvPr/>
        </p:nvSpPr>
        <p:spPr>
          <a:xfrm xmlns:a="http://schemas.openxmlformats.org/drawingml/2006/main">
            <a:off x="720000" y="3708000"/>
            <a:ext cx="10753200" cy="216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b="1">
                <a:solidFill>
                  <a:srgbClr val="8B949E"/>
                </a:solidFill>
              </a:rPr>
              <a:t>DATA PIPELINE STRATEGY</a:t>
            </a:r>
          </a:p>
        </p:txBody>
      </p:sp>
      <p:sp>
        <p:nvSpPr>
          <p:cNvPr id="100044" name="Pipeline"/>
          <p:cNvSpPr txBox="1"/>
          <p:nvPr/>
        </p:nvSpPr>
        <p:spPr>
          <a:xfrm xmlns:a="http://schemas.openxmlformats.org/drawingml/2006/main">
            <a:off x="720000" y="3960000"/>
            <a:ext cx="10753200" cy="288000"/>
          </a:xfrm>
          <a:prstGeom xmlns:a="http://schemas.openxmlformats.org/drawingml/2006/main" prst="rect">
            <a:avLst/>
          </a:prstGeom>
          <a:solidFill xmlns:a="http://schemas.openxmlformats.org/drawingml/2006/main">
            <a:srgbClr val="161B22"/>
          </a:solidFill>
        </p:spPr>
        <p:txBody>
          <a:bodyPr xmlns:a="http://schemas.openxmlformats.org/drawingml/2006/main"/>
          <a:lstStyle xmlns:a="http://schemas.openxmlformats.org/drawingml/2006/main"/>
          <a:p xmlns:a="http://schemas.openxmlformats.org/drawingml/2006/main">
            <a:r>
              <a:rPr lang="en-US" sz="1600" b="1">
                <a:solidFill>
                  <a:srgbClr val="58A6FF"/>
                </a:solidFill>
              </a:rPr>
              <a:t>load_wide()  →  load_monthly()  →  merge_datasets()  →  ffill().bfill()  →  df_display</a:t>
            </a:r>
          </a:p>
        </p:txBody>
      </p:sp>
      <p:sp>
        <p:nvSpPr>
          <p:cNvPr id="100045" name="PipelineNote"/>
          <p:cNvSpPr txBox="1"/>
          <p:nvPr/>
        </p:nvSpPr>
        <p:spPr>
          <a:xfrm xmlns:a="http://schemas.openxmlformats.org/drawingml/2006/main">
            <a:off x="720000" y="4320000"/>
            <a:ext cx="107532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400">
                <a:solidFill>
                  <a:srgbClr val="8B949E"/>
                </a:solidFill>
              </a:rPr>
              <a:t>Auto-detects date columns · Coerces all prices to float · Forward-fills missing values to maintain time-series integrity · Union-merges wide + monthly on datetime index</a:t>
            </a:r>
          </a:p>
        </p:txBody>
      </p:sp>
      <p:sp>
        <p:nvSpPr>
          <p:cNvPr id="100046" name="StatsBox"/>
          <p:cNvSpPr txBox="1"/>
          <p:nvPr/>
        </p:nvSpPr>
        <p:spPr>
          <a:xfrm xmlns:a="http://schemas.openxmlformats.org/drawingml/2006/main">
            <a:off x="720000" y="4752000"/>
            <a:ext cx="10753200" cy="396000"/>
          </a:xfrm>
          <a:prstGeom xmlns:a="http://schemas.openxmlformats.org/drawingml/2006/main" prst="rect">
            <a:avLst/>
          </a:prstGeom>
          <a:solidFill xmlns:a="http://schemas.openxmlformats.org/drawingml/2006/main">
            <a:srgbClr val="161B22"/>
          </a:solidFill>
        </p:spPr>
        <p:txBody>
          <a:bodyPr xmlns:a="http://schemas.openxmlformats.org/drawingml/2006/main"/>
          <a:lstStyle xmlns:a="http://schemas.openxmlformats.org/drawingml/2006/main"/>
          <a:p xmlns:a="http://schemas.openxmlformats.org/drawingml/2006/main">
            <a:r>
              <a:rPr lang="en-US" sz="1500" b="1">
                <a:solidFill>
                  <a:srgbClr val="E6EDF3"/>
                </a:solidFill>
              </a:rPr>
              <a:t>18+ items tracked          ~132 months of data          3 BLS source files          100% monthly coverage after fill</a:t>
            </a:r>
          </a:p>
        </p:txBody>
      </p:sp>
    </p:spTree>
  </p:cSld>
</p:sld>
</file>

<file path=ppt/slides/slide4.xml><?xml version="1.0" encoding="utf-8"?>
<p:sld xmlns:a="http://schemas.openxmlformats.org/drawingml/2006/main" xmlns:p="http://schemas.openxmlformats.org/presentationml/2006/main">
  <p:cSld>
    <p:bg>
      <p:bgPr>
        <a:solidFill xmlns:a="http://schemas.openxmlformats.org/drawingml/2006/main">
          <a:srgbClr val="0D1117"/>
        </a:solidFill>
      </p:bgPr>
    </p:bg>
    <p:spTree>
      <p:nvGrpSpPr>
        <p:cNvPr id="1" name=""/>
        <p:cNvGrpSpPr/>
        <p:nvPr/>
      </p:nvGrpSpPr>
      <p:grpSpPr/>
      <p:sp>
        <p:nvSpPr>
          <p:cNvPr id="100047" name="TopBar"/>
          <p:cNvSpPr txBox="1"/>
          <p:nvPr/>
        </p:nvSpPr>
        <p:spPr>
          <a:xfrm xmlns:a="http://schemas.openxmlformats.org/drawingml/2006/main">
            <a:off x="0" y="0"/>
            <a:ext cx="12193200" cy="126000"/>
          </a:xfrm>
          <a:prstGeom xmlns:a="http://schemas.openxmlformats.org/drawingml/2006/main" prst="rect">
            <a:avLst/>
          </a:prstGeom>
          <a:solidFill xmlns:a="http://schemas.openxmlformats.org/drawingml/2006/main">
            <a:srgbClr val="1F6FEB"/>
          </a:solidFill>
        </p:spPr>
        <p:txBody>
          <a:bodyPr xmlns:a="http://schemas.openxmlformats.org/drawingml/2006/main"/>
          <a:lstStyle xmlns:a="http://schemas.openxmlformats.org/drawingml/2006/main"/>
          <a:p xmlns:a="http://schemas.openxmlformats.org/drawingml/2006/main">
            <a:endParaRPr lang="en-US">
              <a:solidFill>
                <a:srgbClr val="1F6FEB"/>
              </a:solidFill>
            </a:endParaRPr>
          </a:p>
        </p:txBody>
      </p:sp>
      <p:sp>
        <p:nvSpPr>
          <p:cNvPr id="100048" name="SlideLabel"/>
          <p:cNvSpPr txBox="1"/>
          <p:nvPr/>
        </p:nvSpPr>
        <p:spPr>
          <a:xfrm xmlns:a="http://schemas.openxmlformats.org/drawingml/2006/main">
            <a:off x="720000" y="252000"/>
            <a:ext cx="5400000" cy="216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000" b="1">
                <a:solidFill>
                  <a:srgbClr val="58A6FF"/>
                </a:solidFill>
              </a:rPr>
              <a:t>SYSTEM ARCHITECTURE</a:t>
            </a:r>
          </a:p>
        </p:txBody>
      </p:sp>
      <p:sp>
        <p:nvSpPr>
          <p:cNvPr id="100049" name="SlideNum"/>
          <p:cNvSpPr txBox="1"/>
          <p:nvPr/>
        </p:nvSpPr>
        <p:spPr>
          <a:xfrm xmlns:a="http://schemas.openxmlformats.org/drawingml/2006/main">
            <a:off x="10800000" y="6408000"/>
            <a:ext cx="1080000" cy="216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a:solidFill>
                  <a:srgbClr val="484F58"/>
                </a:solidFill>
              </a:rPr>
              <a:t>04</a:t>
            </a:r>
          </a:p>
        </p:txBody>
      </p:sp>
      <p:sp>
        <p:nvSpPr>
          <p:cNvPr id="100050" name="Title"/>
          <p:cNvSpPr txBox="1"/>
          <p:nvPr/>
        </p:nvSpPr>
        <p:spPr>
          <a:xfrm xmlns:a="http://schemas.openxmlformats.org/drawingml/2006/main">
            <a:off x="720000" y="540000"/>
            <a:ext cx="10080000" cy="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600" b="1">
                <a:solidFill>
                  <a:srgbClr val="E6EDF3"/>
                </a:solidFill>
              </a:rPr>
              <a:t>Application Architecture</a:t>
            </a:r>
          </a:p>
        </p:txBody>
      </p:sp>
      <p:sp>
        <p:nvSpPr>
          <p:cNvPr id="100051" name="Divider"/>
          <p:cNvSpPr txBox="1"/>
          <p:nvPr/>
        </p:nvSpPr>
        <p:spPr>
          <a:xfrm xmlns:a="http://schemas.openxmlformats.org/drawingml/2006/main">
            <a:off x="720000" y="1116000"/>
            <a:ext cx="10753200" cy="18000"/>
          </a:xfrm>
          <a:prstGeom xmlns:a="http://schemas.openxmlformats.org/drawingml/2006/main" prst="rect">
            <a:avLst/>
          </a:prstGeom>
          <a:solidFill xmlns:a="http://schemas.openxmlformats.org/drawingml/2006/main">
            <a:srgbClr val="21262D"/>
          </a:solidFill>
        </p:spPr>
        <p:txBody>
          <a:bodyPr xmlns:a="http://schemas.openxmlformats.org/drawingml/2006/main"/>
          <a:lstStyle xmlns:a="http://schemas.openxmlformats.org/drawingml/2006/main"/>
          <a:p xmlns:a="http://schemas.openxmlformats.org/drawingml/2006/main">
            <a:endParaRPr lang="en-US">
              <a:solidFill>
                <a:srgbClr val="21262D"/>
              </a:solidFill>
            </a:endParaRPr>
          </a:p>
        </p:txBody>
      </p:sp>
      <p:sp>
        <p:nvSpPr>
          <p:cNvPr id="100052" name="Layer1Box"/>
          <p:cNvSpPr txBox="1"/>
          <p:nvPr/>
        </p:nvSpPr>
        <p:spPr>
          <a:xfrm xmlns:a="http://schemas.openxmlformats.org/drawingml/2006/main">
            <a:off x="720000" y="1224000"/>
            <a:ext cx="10753200" cy="1152000"/>
          </a:xfrm>
          <a:prstGeom xmlns:a="http://schemas.openxmlformats.org/drawingml/2006/main" prst="rect">
            <a:avLst/>
          </a:prstGeom>
          <a:solidFill xmlns:a="http://schemas.openxmlformats.org/drawingml/2006/main">
            <a:srgbClr val="0D1B2E"/>
          </a:solidFill>
        </p:spPr>
        <p:txBody>
          <a:bodyPr xmlns:a="http://schemas.openxmlformats.org/drawingml/2006/main"/>
          <a:lstStyle xmlns:a="http://schemas.openxmlformats.org/drawingml/2006/main"/>
          <a:p xmlns:a="http://schemas.openxmlformats.org/drawingml/2006/main">
            <a:endParaRPr lang="en-US">
              <a:solidFill>
                <a:srgbClr val="1F6FEB"/>
              </a:solidFill>
            </a:endParaRPr>
          </a:p>
        </p:txBody>
      </p:sp>
      <p:sp>
        <p:nvSpPr>
          <p:cNvPr id="100053" name="Layer1Label"/>
          <p:cNvSpPr txBox="1"/>
          <p:nvPr/>
        </p:nvSpPr>
        <p:spPr>
          <a:xfrm xmlns:a="http://schemas.openxmlformats.org/drawingml/2006/main">
            <a:off x="900000" y="1296000"/>
            <a:ext cx="2160000" cy="216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000" b="1">
                <a:solidFill>
                  <a:srgbClr val="58A6FF"/>
                </a:solidFill>
              </a:rPr>
              <a:t>DATA LAYER</a:t>
            </a:r>
          </a:p>
        </p:txBody>
      </p:sp>
      <p:sp>
        <p:nvSpPr>
          <p:cNvPr id="100054" name="Layer1Content"/>
          <p:cNvSpPr txBox="1"/>
          <p:nvPr/>
        </p:nvSpPr>
        <p:spPr>
          <a:xfrm xmlns:a="http://schemas.openxmlformats.org/drawingml/2006/main">
            <a:off x="900000" y="1548000"/>
            <a:ext cx="10440000" cy="64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500">
                <a:solidFill>
                  <a:srgbClr val="79C0FF"/>
                </a:solidFill>
              </a:rPr>
              <a:t>us_average_prices_wide.csv          us_average_prices_monthly.csv          us_average_prices_item_summary.csv</a:t>
            </a:r>
          </a:p>
          <a:p xmlns:a="http://schemas.openxmlformats.org/drawingml/2006/main">
            <a:r>
              <a:rPr lang="en-US" sz="1500">
                <a:solidFill>
                  <a:srgbClr val="79C0FF"/>
                </a:solidFill>
              </a:rPr>
              <a:t>BLS Average Retail Prices  ·  Jan 2015 – 2026  ·  Monthly granularity</a:t>
            </a:r>
          </a:p>
        </p:txBody>
      </p:sp>
      <p:sp>
        <p:nvSpPr>
          <p:cNvPr id="100055" name="Arrow1"/>
          <p:cNvSpPr txBox="1"/>
          <p:nvPr/>
        </p:nvSpPr>
        <p:spPr>
          <a:xfrm xmlns:a="http://schemas.openxmlformats.org/drawingml/2006/main">
            <a:off x="5760000" y="2412000"/>
            <a:ext cx="720000" cy="216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000">
                <a:solidFill>
                  <a:srgbClr val="30363D"/>
                </a:solidFill>
              </a:rPr>
              <a:t>▼</a:t>
            </a:r>
          </a:p>
        </p:txBody>
      </p:sp>
      <p:sp>
        <p:nvSpPr>
          <p:cNvPr id="100056" name="Layer2Box"/>
          <p:cNvSpPr txBox="1"/>
          <p:nvPr/>
        </p:nvSpPr>
        <p:spPr>
          <a:xfrm xmlns:a="http://schemas.openxmlformats.org/drawingml/2006/main">
            <a:off x="720000" y="2664000"/>
            <a:ext cx="10753200" cy="1152000"/>
          </a:xfrm>
          <a:prstGeom xmlns:a="http://schemas.openxmlformats.org/drawingml/2006/main" prst="rect">
            <a:avLst/>
          </a:prstGeom>
          <a:solidFill xmlns:a="http://schemas.openxmlformats.org/drawingml/2006/main">
            <a:srgbClr val="161B22"/>
          </a:solidFill>
        </p:spPr>
        <p:txBody>
          <a:bodyPr xmlns:a="http://schemas.openxmlformats.org/drawingml/2006/main"/>
          <a:lstStyle xmlns:a="http://schemas.openxmlformats.org/drawingml/2006/main"/>
          <a:p xmlns:a="http://schemas.openxmlformats.org/drawingml/2006/main">
            <a:endParaRPr lang="en-US">
              <a:solidFill>
                <a:srgbClr val="3FB950"/>
              </a:solidFill>
            </a:endParaRPr>
          </a:p>
        </p:txBody>
      </p:sp>
      <p:sp>
        <p:nvSpPr>
          <p:cNvPr id="100057" name="Layer2Label"/>
          <p:cNvSpPr txBox="1"/>
          <p:nvPr/>
        </p:nvSpPr>
        <p:spPr>
          <a:xfrm xmlns:a="http://schemas.openxmlformats.org/drawingml/2006/main">
            <a:off x="900000" y="2736000"/>
            <a:ext cx="5760000" cy="216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000" b="1">
                <a:solidFill>
                  <a:srgbClr val="3FB950"/>
                </a:solidFill>
              </a:rPr>
              <a:t>ANALYTICS LAYER  —  analytics.py</a:t>
            </a:r>
          </a:p>
        </p:txBody>
      </p:sp>
      <p:sp>
        <p:nvSpPr>
          <p:cNvPr id="100058" name="Layer2Content"/>
          <p:cNvSpPr txBox="1"/>
          <p:nvPr/>
        </p:nvSpPr>
        <p:spPr>
          <a:xfrm xmlns:a="http://schemas.openxmlformats.org/drawingml/2006/main">
            <a:off x="900000" y="2988000"/>
            <a:ext cx="10440000" cy="72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a:solidFill>
                  <a:srgbClr val="56D364"/>
                </a:solidFill>
              </a:rPr>
              <a:t>load_wide() / load_monthly() / merge_datasets()     compute_rolling()     adjust_for_inflation()</a:t>
            </a:r>
          </a:p>
          <a:p xmlns:a="http://schemas.openxmlformats.org/drawingml/2006/main">
            <a:r>
              <a:rPr lang="en-US" sz="1300">
                <a:solidFill>
                  <a:srgbClr val="56D364"/>
                </a:solidFill>
              </a:rPr>
              <a:t>compute_lagged_correlation() / full_correlation_matrix()     compute_kpis()     forecast_item()     generate_insights()</a:t>
            </a:r>
          </a:p>
        </p:txBody>
      </p:sp>
      <p:sp>
        <p:nvSpPr>
          <p:cNvPr id="100059" name="Arrow2"/>
          <p:cNvSpPr txBox="1"/>
          <p:nvPr/>
        </p:nvSpPr>
        <p:spPr>
          <a:xfrm xmlns:a="http://schemas.openxmlformats.org/drawingml/2006/main">
            <a:off x="5760000" y="3852000"/>
            <a:ext cx="720000" cy="216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000">
                <a:solidFill>
                  <a:srgbClr val="30363D"/>
                </a:solidFill>
              </a:rPr>
              <a:t>▼</a:t>
            </a:r>
          </a:p>
        </p:txBody>
      </p:sp>
      <p:sp>
        <p:nvSpPr>
          <p:cNvPr id="100060" name="Layer3Box"/>
          <p:cNvSpPr txBox="1"/>
          <p:nvPr/>
        </p:nvSpPr>
        <p:spPr>
          <a:xfrm xmlns:a="http://schemas.openxmlformats.org/drawingml/2006/main">
            <a:off x="720000" y="4104000"/>
            <a:ext cx="10753200" cy="1152000"/>
          </a:xfrm>
          <a:prstGeom xmlns:a="http://schemas.openxmlformats.org/drawingml/2006/main" prst="rect">
            <a:avLst/>
          </a:prstGeom>
          <a:solidFill xmlns:a="http://schemas.openxmlformats.org/drawingml/2006/main">
            <a:srgbClr val="1B1426"/>
          </a:solidFill>
        </p:spPr>
        <p:txBody>
          <a:bodyPr xmlns:a="http://schemas.openxmlformats.org/drawingml/2006/main"/>
          <a:lstStyle xmlns:a="http://schemas.openxmlformats.org/drawingml/2006/main"/>
          <a:p xmlns:a="http://schemas.openxmlformats.org/drawingml/2006/main">
            <a:endParaRPr lang="en-US">
              <a:solidFill>
                <a:srgbClr val="A371F7"/>
              </a:solidFill>
            </a:endParaRPr>
          </a:p>
        </p:txBody>
      </p:sp>
      <p:sp>
        <p:nvSpPr>
          <p:cNvPr id="100061" name="Layer3Label"/>
          <p:cNvSpPr txBox="1"/>
          <p:nvPr/>
        </p:nvSpPr>
        <p:spPr>
          <a:xfrm xmlns:a="http://schemas.openxmlformats.org/drawingml/2006/main">
            <a:off x="900000" y="4176000"/>
            <a:ext cx="5760000" cy="216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000" b="1">
                <a:solidFill>
                  <a:srgbClr val="A371F7"/>
                </a:solidFill>
              </a:rPr>
              <a:t>PRESENTATION LAYER  —  app.py</a:t>
            </a:r>
          </a:p>
        </p:txBody>
      </p:sp>
      <p:sp>
        <p:nvSpPr>
          <p:cNvPr id="100062" name="Layer3Content"/>
          <p:cNvSpPr txBox="1"/>
          <p:nvPr/>
        </p:nvSpPr>
        <p:spPr>
          <a:xfrm xmlns:a="http://schemas.openxmlformats.org/drawingml/2006/main">
            <a:off x="900000" y="4428000"/>
            <a:ext cx="10440000" cy="72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a:solidFill>
                  <a:srgbClr val="D2A8FF"/>
                </a:solidFill>
              </a:rPr>
              <a:t>st.set_page_config()  ·  Custom CSS Dark Theme  ·  5 KPI Cards  ·  4 Interactive Tabs</a:t>
            </a:r>
          </a:p>
          <a:p xmlns:a="http://schemas.openxmlformats.org/drawingml/2006/main">
            <a:r>
              <a:rPr lang="en-US" sz="1300">
                <a:solidFill>
                  <a:srgbClr val="D2A8FF"/>
                </a:solidFill>
              </a:rPr>
              <a:t>Tab 1: Price Trends     Tab 2: Fuel↔Grocery Lag     Tab 3: Forecast     Tab 4: Data Explorer</a:t>
            </a:r>
          </a:p>
          <a:p xmlns:a="http://schemas.openxmlformats.org/drawingml/2006/main">
            <a:r>
              <a:rPr lang="en-US" sz="1300">
                <a:solidFill>
                  <a:srgbClr val="D2A8FF"/>
                </a:solidFill>
              </a:rPr>
              <a:t>AI Business &amp; Policy Decisions Expander     Sidebar Controls     CSV Download</a:t>
            </a:r>
          </a:p>
        </p:txBody>
      </p:sp>
      <p:sp>
        <p:nvSpPr>
          <p:cNvPr id="100063" name="DesignNote"/>
          <p:cNvSpPr txBox="1"/>
          <p:nvPr/>
        </p:nvSpPr>
        <p:spPr>
          <a:xfrm xmlns:a="http://schemas.openxmlformats.org/drawingml/2006/main">
            <a:off x="720000" y="5400000"/>
            <a:ext cx="107532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a:solidFill>
                  <a:srgbClr val="8B949E"/>
                </a:solidFill>
              </a:rPr>
              <a:t>Separation of Concerns: main.py (Section 1) contains zero UI code · main.py (Section 2) contains zero computation logic · All functions return plain DataFrames</a:t>
            </a:r>
          </a:p>
        </p:txBody>
      </p:sp>
    </p:spTree>
  </p:cSld>
</p:sld>
</file>

<file path=ppt/slides/slide5.xml><?xml version="1.0" encoding="utf-8"?>
<p:sld xmlns:a="http://schemas.openxmlformats.org/drawingml/2006/main" xmlns:p="http://schemas.openxmlformats.org/presentationml/2006/main">
  <p:cSld>
    <p:bg>
      <p:bgPr>
        <a:solidFill xmlns:a="http://schemas.openxmlformats.org/drawingml/2006/main">
          <a:srgbClr val="0D1117"/>
        </a:solidFill>
      </p:bgPr>
    </p:bg>
    <p:spTree>
      <p:nvGrpSpPr>
        <p:cNvPr id="1" name=""/>
        <p:cNvGrpSpPr/>
        <p:nvPr/>
      </p:nvGrpSpPr>
      <p:grpSpPr/>
      <p:sp>
        <p:nvSpPr>
          <p:cNvPr id="100064" name="TopBar"/>
          <p:cNvSpPr txBox="1"/>
          <p:nvPr/>
        </p:nvSpPr>
        <p:spPr>
          <a:xfrm xmlns:a="http://schemas.openxmlformats.org/drawingml/2006/main">
            <a:off x="0" y="0"/>
            <a:ext cx="12193200" cy="126000"/>
          </a:xfrm>
          <a:prstGeom xmlns:a="http://schemas.openxmlformats.org/drawingml/2006/main" prst="rect">
            <a:avLst/>
          </a:prstGeom>
          <a:solidFill xmlns:a="http://schemas.openxmlformats.org/drawingml/2006/main">
            <a:srgbClr val="1F6FEB"/>
          </a:solidFill>
        </p:spPr>
        <p:txBody>
          <a:bodyPr xmlns:a="http://schemas.openxmlformats.org/drawingml/2006/main"/>
          <a:lstStyle xmlns:a="http://schemas.openxmlformats.org/drawingml/2006/main"/>
          <a:p xmlns:a="http://schemas.openxmlformats.org/drawingml/2006/main">
            <a:endParaRPr lang="en-US">
              <a:solidFill>
                <a:srgbClr val="1F6FEB"/>
              </a:solidFill>
            </a:endParaRPr>
          </a:p>
        </p:txBody>
      </p:sp>
      <p:sp>
        <p:nvSpPr>
          <p:cNvPr id="100065" name="SlideLabel"/>
          <p:cNvSpPr txBox="1"/>
          <p:nvPr/>
        </p:nvSpPr>
        <p:spPr>
          <a:xfrm xmlns:a="http://schemas.openxmlformats.org/drawingml/2006/main">
            <a:off x="720000" y="252000"/>
            <a:ext cx="7200000" cy="216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000" b="1">
                <a:solidFill>
                  <a:srgbClr val="58A6FF"/>
                </a:solidFill>
              </a:rPr>
              <a:t>ANALYTICS ENGINE — FEATURE 1 &amp; 2</a:t>
            </a:r>
          </a:p>
        </p:txBody>
      </p:sp>
      <p:sp>
        <p:nvSpPr>
          <p:cNvPr id="100066" name="SlideNum"/>
          <p:cNvSpPr txBox="1"/>
          <p:nvPr/>
        </p:nvSpPr>
        <p:spPr>
          <a:xfrm xmlns:a="http://schemas.openxmlformats.org/drawingml/2006/main">
            <a:off x="10800000" y="6408000"/>
            <a:ext cx="1080000" cy="216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a:solidFill>
                  <a:srgbClr val="484F58"/>
                </a:solidFill>
              </a:rPr>
              <a:t>05</a:t>
            </a:r>
          </a:p>
        </p:txBody>
      </p:sp>
      <p:sp>
        <p:nvSpPr>
          <p:cNvPr id="100067" name="Title"/>
          <p:cNvSpPr txBox="1"/>
          <p:nvPr/>
        </p:nvSpPr>
        <p:spPr>
          <a:xfrm xmlns:a="http://schemas.openxmlformats.org/drawingml/2006/main">
            <a:off x="720000" y="540000"/>
            <a:ext cx="10080000" cy="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600" b="1">
                <a:solidFill>
                  <a:srgbClr val="E6EDF3"/>
                </a:solidFill>
              </a:rPr>
              <a:t>Data Pipeline &amp; Macro Stability Filters</a:t>
            </a:r>
          </a:p>
        </p:txBody>
      </p:sp>
      <p:sp>
        <p:nvSpPr>
          <p:cNvPr id="100068" name="Divider"/>
          <p:cNvSpPr txBox="1"/>
          <p:nvPr/>
        </p:nvSpPr>
        <p:spPr>
          <a:xfrm xmlns:a="http://schemas.openxmlformats.org/drawingml/2006/main">
            <a:off x="720000" y="1116000"/>
            <a:ext cx="10753200" cy="18000"/>
          </a:xfrm>
          <a:prstGeom xmlns:a="http://schemas.openxmlformats.org/drawingml/2006/main" prst="rect">
            <a:avLst/>
          </a:prstGeom>
          <a:solidFill xmlns:a="http://schemas.openxmlformats.org/drawingml/2006/main">
            <a:srgbClr val="21262D"/>
          </a:solidFill>
        </p:spPr>
        <p:txBody>
          <a:bodyPr xmlns:a="http://schemas.openxmlformats.org/drawingml/2006/main"/>
          <a:lstStyle xmlns:a="http://schemas.openxmlformats.org/drawingml/2006/main"/>
          <a:p xmlns:a="http://schemas.openxmlformats.org/drawingml/2006/main">
            <a:endParaRPr lang="en-US">
              <a:solidFill>
                <a:srgbClr val="21262D"/>
              </a:solidFill>
            </a:endParaRPr>
          </a:p>
        </p:txBody>
      </p:sp>
      <p:sp>
        <p:nvSpPr>
          <p:cNvPr id="100069" name="F1Box"/>
          <p:cNvSpPr txBox="1"/>
          <p:nvPr/>
        </p:nvSpPr>
        <p:spPr>
          <a:xfrm xmlns:a="http://schemas.openxmlformats.org/drawingml/2006/main">
            <a:off x="720000" y="1260000"/>
            <a:ext cx="5184000" cy="4320000"/>
          </a:xfrm>
          <a:prstGeom xmlns:a="http://schemas.openxmlformats.org/drawingml/2006/main" prst="rect">
            <a:avLst/>
          </a:prstGeom>
          <a:solidFill xmlns:a="http://schemas.openxmlformats.org/drawingml/2006/main">
            <a:srgbClr val="161B22"/>
          </a:solidFill>
        </p:spPr>
        <p:txBody>
          <a:bodyPr xmlns:a="http://schemas.openxmlformats.org/drawingml/2006/main"/>
          <a:lstStyle xmlns:a="http://schemas.openxmlformats.org/drawingml/2006/main"/>
          <a:p xmlns:a="http://schemas.openxmlformats.org/drawingml/2006/main">
            <a:endParaRPr lang="en-US">
              <a:solidFill>
                <a:srgbClr val="1F6FEB"/>
              </a:solidFill>
            </a:endParaRPr>
          </a:p>
        </p:txBody>
      </p:sp>
      <p:sp>
        <p:nvSpPr>
          <p:cNvPr id="100070" name="F1Badge"/>
          <p:cNvSpPr txBox="1"/>
          <p:nvPr/>
        </p:nvSpPr>
        <p:spPr>
          <a:xfrm xmlns:a="http://schemas.openxmlformats.org/drawingml/2006/main">
            <a:off x="900000" y="1368000"/>
            <a:ext cx="1800000" cy="216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000" b="1">
                <a:solidFill>
                  <a:srgbClr val="1F6FEB"/>
                </a:solidFill>
              </a:rPr>
              <a:t>FEATURE 1</a:t>
            </a:r>
          </a:p>
        </p:txBody>
      </p:sp>
      <p:sp>
        <p:nvSpPr>
          <p:cNvPr id="100071" name="F1Title"/>
          <p:cNvSpPr txBox="1"/>
          <p:nvPr/>
        </p:nvSpPr>
        <p:spPr>
          <a:xfrm xmlns:a="http://schemas.openxmlformats.org/drawingml/2006/main">
            <a:off x="900000" y="1620000"/>
            <a:ext cx="4860000" cy="324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400" b="1">
                <a:solidFill>
                  <a:srgbClr val="E6EDF3"/>
                </a:solidFill>
              </a:rPr>
              <a:t>Data Pipeline</a:t>
            </a:r>
          </a:p>
        </p:txBody>
      </p:sp>
      <p:sp>
        <p:nvSpPr>
          <p:cNvPr id="100072" name="F1Body"/>
          <p:cNvSpPr txBox="1"/>
          <p:nvPr/>
        </p:nvSpPr>
        <p:spPr>
          <a:xfrm xmlns:a="http://schemas.openxmlformats.org/drawingml/2006/main">
            <a:off x="900000" y="2016000"/>
            <a:ext cx="4860000" cy="342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400">
                <a:solidFill>
                  <a:srgbClr val="C9D1D9"/>
                </a:solidFill>
              </a:rPr>
              <a:t>Functions:</a:t>
            </a:r>
          </a:p>
          <a:p xmlns:a="http://schemas.openxmlformats.org/drawingml/2006/main">
            <a:r>
              <a:rPr lang="en-US" sz="1400">
                <a:solidFill>
                  <a:srgbClr val="C9D1D9"/>
                </a:solidFill>
              </a:rPr>
              <a:t>• _normalise_columns()  — strip whitespace from headers</a:t>
            </a:r>
          </a:p>
          <a:p xmlns:a="http://schemas.openxmlformats.org/drawingml/2006/main">
            <a:r>
              <a:rPr lang="en-US" sz="1400">
                <a:solidFill>
                  <a:srgbClr val="C9D1D9"/>
                </a:solidFill>
              </a:rPr>
              <a:t>• _parse_date_column()  — auto-detect &amp; coerce to datetime</a:t>
            </a:r>
          </a:p>
          <a:p xmlns:a="http://schemas.openxmlformats.org/drawingml/2006/main">
            <a:r>
              <a:rPr lang="en-US" sz="1400">
                <a:solidFill>
                  <a:srgbClr val="C9D1D9"/>
                </a:solidFill>
              </a:rPr>
              <a:t>• load_wide()  — parse pivoted CSV, set datetime index</a:t>
            </a:r>
          </a:p>
          <a:p xmlns:a="http://schemas.openxmlformats.org/drawingml/2006/main">
            <a:r>
              <a:rPr lang="en-US" sz="1400">
                <a:solidFill>
                  <a:srgbClr val="C9D1D9"/>
                </a:solidFill>
              </a:rPr>
              <a:t>• load_monthly()  — pivot long CSV to wide via pivot_table()</a:t>
            </a:r>
          </a:p>
          <a:p xmlns:a="http://schemas.openxmlformats.org/drawingml/2006/main">
            <a:r>
              <a:rPr lang="en-US" sz="1400">
                <a:solidFill>
                  <a:srgbClr val="C9D1D9"/>
                </a:solidFill>
              </a:rPr>
              <a:t>• load_item_summary()  — load pre-aggregated stats CSV</a:t>
            </a:r>
          </a:p>
          <a:p xmlns:a="http://schemas.openxmlformats.org/drawingml/2006/main">
            <a:r>
              <a:rPr lang="en-US" sz="1400">
                <a:solidFill>
                  <a:srgbClr val="C9D1D9"/>
                </a:solidFill>
              </a:rPr>
              <a:t>• merge_datasets()  — union-merge on datetime index</a:t>
            </a:r>
          </a:p>
          <a:p xmlns:a="http://schemas.openxmlformats.org/drawingml/2006/main">
            <a:r>
              <a:rPr lang="en-US" sz="1400">
                <a:solidFill>
                  <a:srgbClr val="C9D1D9"/>
                </a:solidFill>
              </a:rPr>
              <a:t/>
            </a:r>
          </a:p>
          <a:p xmlns:a="http://schemas.openxmlformats.org/drawingml/2006/main">
            <a:r>
              <a:rPr lang="en-US" sz="1400">
                <a:solidFill>
                  <a:srgbClr val="C9D1D9"/>
                </a:solidFill>
              </a:rPr>
              <a:t>Missing Value Strategy:</a:t>
            </a:r>
          </a:p>
          <a:p xmlns:a="http://schemas.openxmlformats.org/drawingml/2006/main">
            <a:r>
              <a:rPr lang="en-US" sz="1400">
                <a:solidFill>
                  <a:srgbClr val="C9D1D9"/>
                </a:solidFill>
              </a:rPr>
              <a:t>• Forward-fill (ffill()) — carries last known value forward</a:t>
            </a:r>
          </a:p>
          <a:p xmlns:a="http://schemas.openxmlformats.org/drawingml/2006/main">
            <a:r>
              <a:rPr lang="en-US" sz="1400">
                <a:solidFill>
                  <a:srgbClr val="C9D1D9"/>
                </a:solidFill>
              </a:rPr>
              <a:t>• Back-fill (bfill()) — fills leading NaN from first valid value</a:t>
            </a:r>
          </a:p>
          <a:p xmlns:a="http://schemas.openxmlformats.org/drawingml/2006/main">
            <a:r>
              <a:rPr lang="en-US" sz="1400">
                <a:solidFill>
                  <a:srgbClr val="C9D1D9"/>
                </a:solidFill>
              </a:rPr>
              <a:t>• Preserves time-series monotonicity for rolling &amp; forecasting</a:t>
            </a:r>
          </a:p>
          <a:p xmlns:a="http://schemas.openxmlformats.org/drawingml/2006/main">
            <a:r>
              <a:rPr lang="en-US" sz="1400">
                <a:solidFill>
                  <a:srgbClr val="C9D1D9"/>
                </a:solidFill>
              </a:rPr>
              <a:t/>
            </a:r>
          </a:p>
          <a:p xmlns:a="http://schemas.openxmlformats.org/drawingml/2006/main">
            <a:r>
              <a:rPr lang="en-US" sz="1400">
                <a:solidFill>
                  <a:srgbClr val="C9D1D9"/>
                </a:solidFill>
              </a:rPr>
              <a:t>All functions return plain pandas DataFrames — zero side effects.</a:t>
            </a:r>
          </a:p>
        </p:txBody>
      </p:sp>
      <p:sp>
        <p:nvSpPr>
          <p:cNvPr id="100073" name="F2Box"/>
          <p:cNvSpPr txBox="1"/>
          <p:nvPr/>
        </p:nvSpPr>
        <p:spPr>
          <a:xfrm xmlns:a="http://schemas.openxmlformats.org/drawingml/2006/main">
            <a:off x="6264000" y="1260000"/>
            <a:ext cx="5220000" cy="4320000"/>
          </a:xfrm>
          <a:prstGeom xmlns:a="http://schemas.openxmlformats.org/drawingml/2006/main" prst="rect">
            <a:avLst/>
          </a:prstGeom>
          <a:solidFill xmlns:a="http://schemas.openxmlformats.org/drawingml/2006/main">
            <a:srgbClr val="161B22"/>
          </a:solidFill>
        </p:spPr>
        <p:txBody>
          <a:bodyPr xmlns:a="http://schemas.openxmlformats.org/drawingml/2006/main"/>
          <a:lstStyle xmlns:a="http://schemas.openxmlformats.org/drawingml/2006/main"/>
          <a:p xmlns:a="http://schemas.openxmlformats.org/drawingml/2006/main">
            <a:endParaRPr lang="en-US">
              <a:solidFill>
                <a:srgbClr val="A371F7"/>
              </a:solidFill>
            </a:endParaRPr>
          </a:p>
        </p:txBody>
      </p:sp>
      <p:sp>
        <p:nvSpPr>
          <p:cNvPr id="100074" name="F2Badge"/>
          <p:cNvSpPr txBox="1"/>
          <p:nvPr/>
        </p:nvSpPr>
        <p:spPr>
          <a:xfrm xmlns:a="http://schemas.openxmlformats.org/drawingml/2006/main">
            <a:off x="6444000" y="1368000"/>
            <a:ext cx="1800000" cy="216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000" b="1">
                <a:solidFill>
                  <a:srgbClr val="A371F7"/>
                </a:solidFill>
              </a:rPr>
              <a:t>FEATURE 2</a:t>
            </a:r>
          </a:p>
        </p:txBody>
      </p:sp>
      <p:sp>
        <p:nvSpPr>
          <p:cNvPr id="100075" name="F2Title"/>
          <p:cNvSpPr txBox="1"/>
          <p:nvPr/>
        </p:nvSpPr>
        <p:spPr>
          <a:xfrm xmlns:a="http://schemas.openxmlformats.org/drawingml/2006/main">
            <a:off x="6444000" y="1620000"/>
            <a:ext cx="4860000" cy="324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400" b="1">
                <a:solidFill>
                  <a:srgbClr val="E6EDF3"/>
                </a:solidFill>
              </a:rPr>
              <a:t>Macro Stability Filter</a:t>
            </a:r>
          </a:p>
        </p:txBody>
      </p:sp>
      <p:sp>
        <p:nvSpPr>
          <p:cNvPr id="100076" name="F2Body"/>
          <p:cNvSpPr txBox="1"/>
          <p:nvPr/>
        </p:nvSpPr>
        <p:spPr>
          <a:xfrm xmlns:a="http://schemas.openxmlformats.org/drawingml/2006/main">
            <a:off x="6444000" y="2016000"/>
            <a:ext cx="4860000" cy="342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400">
                <a:solidFill>
                  <a:srgbClr val="C9D1D9"/>
                </a:solidFill>
              </a:rPr>
              <a:t>Function:  compute_rolling(df, window=12)</a:t>
            </a:r>
          </a:p>
          <a:p xmlns:a="http://schemas.openxmlformats.org/drawingml/2006/main">
            <a:r>
              <a:rPr lang="en-US" sz="1400">
                <a:solidFill>
                  <a:srgbClr val="C9D1D9"/>
                </a:solidFill>
              </a:rPr>
              <a:t/>
            </a:r>
          </a:p>
          <a:p xmlns:a="http://schemas.openxmlformats.org/drawingml/2006/main">
            <a:r>
              <a:rPr lang="en-US" sz="1400">
                <a:solidFill>
                  <a:srgbClr val="C9D1D9"/>
                </a:solidFill>
              </a:rPr>
              <a:t>Method:</a:t>
            </a:r>
          </a:p>
          <a:p xmlns:a="http://schemas.openxmlformats.org/drawingml/2006/main">
            <a:r>
              <a:rPr lang="en-US" sz="1400">
                <a:solidFill>
                  <a:srgbClr val="C9D1D9"/>
                </a:solidFill>
              </a:rPr>
              <a:t>• pandas .rolling(window=12, min_periods=3).mean()</a:t>
            </a:r>
          </a:p>
          <a:p xmlns:a="http://schemas.openxmlformats.org/drawingml/2006/main">
            <a:r>
              <a:rPr lang="en-US" sz="1400">
                <a:solidFill>
                  <a:srgbClr val="C9D1D9"/>
                </a:solidFill>
              </a:rPr>
              <a:t>• Applied across all price columns simultaneously</a:t>
            </a:r>
          </a:p>
          <a:p xmlns:a="http://schemas.openxmlformats.org/drawingml/2006/main">
            <a:r>
              <a:rPr lang="en-US" sz="1400">
                <a:solidFill>
                  <a:srgbClr val="C9D1D9"/>
                </a:solidFill>
              </a:rPr>
              <a:t>• min_periods=3 ensures output at series start</a:t>
            </a:r>
          </a:p>
          <a:p xmlns:a="http://schemas.openxmlformats.org/drawingml/2006/main">
            <a:r>
              <a:rPr lang="en-US" sz="1400">
                <a:solidFill>
                  <a:srgbClr val="C9D1D9"/>
                </a:solidFill>
              </a:rPr>
              <a:t/>
            </a:r>
          </a:p>
          <a:p xmlns:a="http://schemas.openxmlformats.org/drawingml/2006/main">
            <a:r>
              <a:rPr lang="en-US" sz="1400">
                <a:solidFill>
                  <a:srgbClr val="C9D1D9"/>
                </a:solidFill>
              </a:rPr>
              <a:t>User Toggle:</a:t>
            </a:r>
          </a:p>
          <a:p xmlns:a="http://schemas.openxmlformats.org/drawingml/2006/main">
            <a:r>
              <a:rPr lang="en-US" sz="1400">
                <a:solidFill>
                  <a:srgbClr val="C9D1D9"/>
                </a:solidFill>
              </a:rPr>
              <a:t>• "Raw Prices"  — direct BLS monthly values</a:t>
            </a:r>
          </a:p>
          <a:p xmlns:a="http://schemas.openxmlformats.org/drawingml/2006/main">
            <a:r>
              <a:rPr lang="en-US" sz="1400">
                <a:solidFill>
                  <a:srgbClr val="C9D1D9"/>
                </a:solidFill>
              </a:rPr>
              <a:t>• "Trend (12-mo Rolling Avg)"  — smoothed signal</a:t>
            </a:r>
          </a:p>
          <a:p xmlns:a="http://schemas.openxmlformats.org/drawingml/2006/main">
            <a:r>
              <a:rPr lang="en-US" sz="1400">
                <a:solidFill>
                  <a:srgbClr val="C9D1D9"/>
                </a:solidFill>
              </a:rPr>
              <a:t/>
            </a:r>
          </a:p>
          <a:p xmlns:a="http://schemas.openxmlformats.org/drawingml/2006/main">
            <a:r>
              <a:rPr lang="en-US" sz="1400">
                <a:solidFill>
                  <a:srgbClr val="C9D1D9"/>
                </a:solidFill>
              </a:rPr>
              <a:t>When trend mode is active:</a:t>
            </a:r>
          </a:p>
          <a:p xmlns:a="http://schemas.openxmlformats.org/drawingml/2006/main">
            <a:r>
              <a:rPr lang="en-US" sz="1400">
                <a:solidFill>
                  <a:srgbClr val="C9D1D9"/>
                </a:solidFill>
              </a:rPr>
              <a:t>• Raw series is shown as a faint dotted underlay</a:t>
            </a:r>
          </a:p>
          <a:p xmlns:a="http://schemas.openxmlformats.org/drawingml/2006/main">
            <a:r>
              <a:rPr lang="en-US" sz="1400">
                <a:solidFill>
                  <a:srgbClr val="C9D1D9"/>
                </a:solidFill>
              </a:rPr>
              <a:t>• Trend line is drawn bold over the top</a:t>
            </a:r>
          </a:p>
          <a:p xmlns:a="http://schemas.openxmlformats.org/drawingml/2006/main">
            <a:r>
              <a:rPr lang="en-US" sz="1400">
                <a:solidFill>
                  <a:srgbClr val="C9D1D9"/>
                </a:solidFill>
              </a:rPr>
              <a:t>• Removes short-term seasonal noise</a:t>
            </a:r>
          </a:p>
          <a:p xmlns:a="http://schemas.openxmlformats.org/drawingml/2006/main">
            <a:r>
              <a:rPr lang="en-US" sz="1400">
                <a:solidFill>
                  <a:srgbClr val="C9D1D9"/>
                </a:solidFill>
              </a:rPr>
              <a:t>• Exposes structural multi-year cost shifts</a:t>
            </a:r>
          </a:p>
          <a:p xmlns:a="http://schemas.openxmlformats.org/drawingml/2006/main">
            <a:r>
              <a:rPr lang="en-US" sz="1400">
                <a:solidFill>
                  <a:srgbClr val="C9D1D9"/>
                </a:solidFill>
              </a:rPr>
              <a:t/>
            </a:r>
          </a:p>
          <a:p xmlns:a="http://schemas.openxmlformats.org/drawingml/2006/main">
            <a:r>
              <a:rPr lang="en-US" sz="1400">
                <a:solidFill>
                  <a:srgbClr val="C9D1D9"/>
                </a:solidFill>
              </a:rPr>
              <a:t>Use case:</a:t>
            </a:r>
          </a:p>
          <a:p xmlns:a="http://schemas.openxmlformats.org/drawingml/2006/main">
            <a:r>
              <a:rPr lang="en-US" sz="1400">
                <a:solidFill>
                  <a:srgbClr val="C9D1D9"/>
                </a:solidFill>
              </a:rPr>
              <a:t>• Annual budget forecasting</a:t>
            </a:r>
          </a:p>
          <a:p xmlns:a="http://schemas.openxmlformats.org/drawingml/2006/main">
            <a:r>
              <a:rPr lang="en-US" sz="1400">
                <a:solidFill>
                  <a:srgbClr val="C9D1D9"/>
                </a:solidFill>
              </a:rPr>
              <a:t>• Long-term procurement planning</a:t>
            </a:r>
          </a:p>
        </p:txBody>
      </p:sp>
    </p:spTree>
  </p:cSld>
</p:sld>
</file>

<file path=ppt/slides/slide6.xml><?xml version="1.0" encoding="utf-8"?>
<p:sld xmlns:a="http://schemas.openxmlformats.org/drawingml/2006/main" xmlns:p="http://schemas.openxmlformats.org/presentationml/2006/main">
  <p:cSld>
    <p:bg>
      <p:bgPr>
        <a:solidFill xmlns:a="http://schemas.openxmlformats.org/drawingml/2006/main">
          <a:srgbClr val="0D1117"/>
        </a:solidFill>
      </p:bgPr>
    </p:bg>
    <p:spTree>
      <p:nvGrpSpPr>
        <p:cNvPr id="1" name=""/>
        <p:cNvGrpSpPr/>
        <p:nvPr/>
      </p:nvGrpSpPr>
      <p:grpSpPr/>
      <p:sp>
        <p:nvSpPr>
          <p:cNvPr id="100077" name="TopBar"/>
          <p:cNvSpPr txBox="1"/>
          <p:nvPr/>
        </p:nvSpPr>
        <p:spPr>
          <a:xfrm xmlns:a="http://schemas.openxmlformats.org/drawingml/2006/main">
            <a:off x="0" y="0"/>
            <a:ext cx="12193200" cy="126000"/>
          </a:xfrm>
          <a:prstGeom xmlns:a="http://schemas.openxmlformats.org/drawingml/2006/main" prst="rect">
            <a:avLst/>
          </a:prstGeom>
          <a:solidFill xmlns:a="http://schemas.openxmlformats.org/drawingml/2006/main">
            <a:srgbClr val="1F6FEB"/>
          </a:solidFill>
        </p:spPr>
        <p:txBody>
          <a:bodyPr xmlns:a="http://schemas.openxmlformats.org/drawingml/2006/main"/>
          <a:lstStyle xmlns:a="http://schemas.openxmlformats.org/drawingml/2006/main"/>
          <a:p xmlns:a="http://schemas.openxmlformats.org/drawingml/2006/main">
            <a:endParaRPr lang="en-US">
              <a:solidFill>
                <a:srgbClr val="1F6FEB"/>
              </a:solidFill>
            </a:endParaRPr>
          </a:p>
        </p:txBody>
      </p:sp>
      <p:sp>
        <p:nvSpPr>
          <p:cNvPr id="100078" name="SlideLabel"/>
          <p:cNvSpPr txBox="1"/>
          <p:nvPr/>
        </p:nvSpPr>
        <p:spPr>
          <a:xfrm xmlns:a="http://schemas.openxmlformats.org/drawingml/2006/main">
            <a:off x="720000" y="252000"/>
            <a:ext cx="7200000" cy="216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000" b="1">
                <a:solidFill>
                  <a:srgbClr val="58A6FF"/>
                </a:solidFill>
              </a:rPr>
              <a:t>ANALYTICS ENGINE — FEATURE 3</a:t>
            </a:r>
          </a:p>
        </p:txBody>
      </p:sp>
      <p:sp>
        <p:nvSpPr>
          <p:cNvPr id="100079" name="SlideNum"/>
          <p:cNvSpPr txBox="1"/>
          <p:nvPr/>
        </p:nvSpPr>
        <p:spPr>
          <a:xfrm xmlns:a="http://schemas.openxmlformats.org/drawingml/2006/main">
            <a:off x="10800000" y="6408000"/>
            <a:ext cx="1080000" cy="216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a:solidFill>
                  <a:srgbClr val="484F58"/>
                </a:solidFill>
              </a:rPr>
              <a:t>06</a:t>
            </a:r>
          </a:p>
        </p:txBody>
      </p:sp>
      <p:sp>
        <p:nvSpPr>
          <p:cNvPr id="100080" name="Title"/>
          <p:cNvSpPr txBox="1"/>
          <p:nvPr/>
        </p:nvSpPr>
        <p:spPr>
          <a:xfrm xmlns:a="http://schemas.openxmlformats.org/drawingml/2006/main">
            <a:off x="720000" y="540000"/>
            <a:ext cx="10080000" cy="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600" b="1">
                <a:solidFill>
                  <a:srgbClr val="E6EDF3"/>
                </a:solidFill>
              </a:rPr>
              <a:t>Real Inflation Adjustment</a:t>
            </a:r>
          </a:p>
        </p:txBody>
      </p:sp>
      <p:sp>
        <p:nvSpPr>
          <p:cNvPr id="100081" name="Divider"/>
          <p:cNvSpPr txBox="1"/>
          <p:nvPr/>
        </p:nvSpPr>
        <p:spPr>
          <a:xfrm xmlns:a="http://schemas.openxmlformats.org/drawingml/2006/main">
            <a:off x="720000" y="1116000"/>
            <a:ext cx="10753200" cy="18000"/>
          </a:xfrm>
          <a:prstGeom xmlns:a="http://schemas.openxmlformats.org/drawingml/2006/main" prst="rect">
            <a:avLst/>
          </a:prstGeom>
          <a:solidFill xmlns:a="http://schemas.openxmlformats.org/drawingml/2006/main">
            <a:srgbClr val="21262D"/>
          </a:solidFill>
        </p:spPr>
        <p:txBody>
          <a:bodyPr xmlns:a="http://schemas.openxmlformats.org/drawingml/2006/main"/>
          <a:lstStyle xmlns:a="http://schemas.openxmlformats.org/drawingml/2006/main"/>
          <a:p xmlns:a="http://schemas.openxmlformats.org/drawingml/2006/main">
            <a:endParaRPr lang="en-US">
              <a:solidFill>
                <a:srgbClr val="21262D"/>
              </a:solidFill>
            </a:endParaRPr>
          </a:p>
        </p:txBody>
      </p:sp>
      <p:sp>
        <p:nvSpPr>
          <p:cNvPr id="100082" name="ConceptBox"/>
          <p:cNvSpPr txBox="1"/>
          <p:nvPr/>
        </p:nvSpPr>
        <p:spPr>
          <a:xfrm xmlns:a="http://schemas.openxmlformats.org/drawingml/2006/main">
            <a:off x="720000" y="1260000"/>
            <a:ext cx="10753200" cy="1260000"/>
          </a:xfrm>
          <a:prstGeom xmlns:a="http://schemas.openxmlformats.org/drawingml/2006/main" prst="rect">
            <a:avLst/>
          </a:prstGeom>
          <a:solidFill xmlns:a="http://schemas.openxmlformats.org/drawingml/2006/main">
            <a:srgbClr val="0D1B2E"/>
          </a:solidFill>
        </p:spPr>
        <p:txBody>
          <a:bodyPr xmlns:a="http://schemas.openxmlformats.org/drawingml/2006/main"/>
          <a:lstStyle xmlns:a="http://schemas.openxmlformats.org/drawingml/2006/main"/>
          <a:p xmlns:a="http://schemas.openxmlformats.org/drawingml/2006/main">
            <a:endParaRPr lang="en-US">
              <a:solidFill>
                <a:srgbClr val="1F6FEB"/>
              </a:solidFill>
            </a:endParaRPr>
          </a:p>
        </p:txBody>
      </p:sp>
      <p:sp>
        <p:nvSpPr>
          <p:cNvPr id="100083" name="ConceptLabel"/>
          <p:cNvSpPr txBox="1"/>
          <p:nvPr/>
        </p:nvSpPr>
        <p:spPr>
          <a:xfrm xmlns:a="http://schemas.openxmlformats.org/drawingml/2006/main">
            <a:off x="900000" y="1332000"/>
            <a:ext cx="3600000" cy="216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000" b="1">
                <a:solidFill>
                  <a:srgbClr val="58A6FF"/>
                </a:solidFill>
              </a:rPr>
              <a:t>THE PROBLEM</a:t>
            </a:r>
          </a:p>
        </p:txBody>
      </p:sp>
      <p:sp>
        <p:nvSpPr>
          <p:cNvPr id="100084" name="ConceptText"/>
          <p:cNvSpPr txBox="1"/>
          <p:nvPr/>
        </p:nvSpPr>
        <p:spPr>
          <a:xfrm xmlns:a="http://schemas.openxmlformats.org/drawingml/2006/main">
            <a:off x="900000" y="1584000"/>
            <a:ext cx="10440000" cy="72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600">
                <a:solidFill>
                  <a:srgbClr val="79C0FF"/>
                </a:solidFill>
              </a:rPr>
              <a:t>Nominal prices reported by BLS inflate automatically with the general price level. A 20% rise in egg prices looks alarming — but if overall CPI rose 18%, real cost only increased 2%. Without deflation, analysts overstate true consumer burden.</a:t>
            </a:r>
          </a:p>
        </p:txBody>
      </p:sp>
      <p:sp>
        <p:nvSpPr>
          <p:cNvPr id="100085" name="FormulaBox"/>
          <p:cNvSpPr txBox="1"/>
          <p:nvPr/>
        </p:nvSpPr>
        <p:spPr>
          <a:xfrm xmlns:a="http://schemas.openxmlformats.org/drawingml/2006/main">
            <a:off x="720000" y="2628000"/>
            <a:ext cx="5184000" cy="3348000"/>
          </a:xfrm>
          <a:prstGeom xmlns:a="http://schemas.openxmlformats.org/drawingml/2006/main" prst="rect">
            <a:avLst/>
          </a:prstGeom>
          <a:solidFill xmlns:a="http://schemas.openxmlformats.org/drawingml/2006/main">
            <a:srgbClr val="161B22"/>
          </a:solidFill>
        </p:spPr>
        <p:txBody>
          <a:bodyPr xmlns:a="http://schemas.openxmlformats.org/drawingml/2006/main"/>
          <a:lstStyle xmlns:a="http://schemas.openxmlformats.org/drawingml/2006/main"/>
          <a:p xmlns:a="http://schemas.openxmlformats.org/drawingml/2006/main">
            <a:endParaRPr lang="en-US">
              <a:solidFill>
                <a:srgbClr val="3FB950"/>
              </a:solidFill>
            </a:endParaRPr>
          </a:p>
        </p:txBody>
      </p:sp>
      <p:sp>
        <p:nvSpPr>
          <p:cNvPr id="100086" name="FormulaLabel"/>
          <p:cNvSpPr txBox="1"/>
          <p:nvPr/>
        </p:nvSpPr>
        <p:spPr>
          <a:xfrm xmlns:a="http://schemas.openxmlformats.org/drawingml/2006/main">
            <a:off x="900000" y="2736000"/>
            <a:ext cx="4680000" cy="216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000" b="1">
                <a:solidFill>
                  <a:srgbClr val="3FB950"/>
                </a:solidFill>
              </a:rPr>
              <a:t>IMPLEMENTATION</a:t>
            </a:r>
          </a:p>
        </p:txBody>
      </p:sp>
      <p:sp>
        <p:nvSpPr>
          <p:cNvPr id="100087" name="FormulaContent"/>
          <p:cNvSpPr txBox="1"/>
          <p:nvPr/>
        </p:nvSpPr>
        <p:spPr>
          <a:xfrm xmlns:a="http://schemas.openxmlformats.org/drawingml/2006/main">
            <a:off x="900000" y="2988000"/>
            <a:ext cx="4860000" cy="288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400">
                <a:solidFill>
                  <a:srgbClr val="C9D1D9"/>
                </a:solidFill>
              </a:rPr>
              <a:t>Baseline rate:  3.5% per year  (~35% cumulative)</a:t>
            </a:r>
          </a:p>
          <a:p xmlns:a="http://schemas.openxmlformats.org/drawingml/2006/main">
            <a:r>
              <a:rPr lang="en-US" sz="1400">
                <a:solidFill>
                  <a:srgbClr val="C9D1D9"/>
                </a:solidFill>
              </a:rPr>
              <a:t/>
            </a:r>
          </a:p>
          <a:p xmlns:a="http://schemas.openxmlformats.org/drawingml/2006/main">
            <a:r>
              <a:rPr lang="en-US" sz="1400">
                <a:solidFill>
                  <a:srgbClr val="C9D1D9"/>
                </a:solidFill>
              </a:rPr>
              <a:t>Monthly rate:</a:t>
            </a:r>
          </a:p>
          <a:p xmlns:a="http://schemas.openxmlformats.org/drawingml/2006/main">
            <a:r>
              <a:rPr lang="en-US" sz="1400">
                <a:solidFill>
                  <a:srgbClr val="C9D1D9"/>
                </a:solidFill>
              </a:rPr>
              <a:t>  r_m  =  (1 + 0.035)^(1/12) - 1</a:t>
            </a:r>
          </a:p>
          <a:p xmlns:a="http://schemas.openxmlformats.org/drawingml/2006/main">
            <a:r>
              <a:rPr lang="en-US" sz="1400">
                <a:solidFill>
                  <a:srgbClr val="C9D1D9"/>
                </a:solidFill>
              </a:rPr>
              <a:t>       ≈  0.2873% per month</a:t>
            </a:r>
          </a:p>
          <a:p xmlns:a="http://schemas.openxmlformats.org/drawingml/2006/main">
            <a:r>
              <a:rPr lang="en-US" sz="1400">
                <a:solidFill>
                  <a:srgbClr val="C9D1D9"/>
                </a:solidFill>
              </a:rPr>
              <a:t/>
            </a:r>
          </a:p>
          <a:p xmlns:a="http://schemas.openxmlformats.org/drawingml/2006/main">
            <a:r>
              <a:rPr lang="en-US" sz="1400">
                <a:solidFill>
                  <a:srgbClr val="C9D1D9"/>
                </a:solidFill>
              </a:rPr>
              <a:t>Cumulative factor at month t:</a:t>
            </a:r>
          </a:p>
          <a:p xmlns:a="http://schemas.openxmlformats.org/drawingml/2006/main">
            <a:r>
              <a:rPr lang="en-US" sz="1400">
                <a:solidFill>
                  <a:srgbClr val="C9D1D9"/>
                </a:solidFill>
              </a:rPr>
              <a:t>  factor(t)  =  (1 + r_m)^t</a:t>
            </a:r>
          </a:p>
          <a:p xmlns:a="http://schemas.openxmlformats.org/drawingml/2006/main">
            <a:r>
              <a:rPr lang="en-US" sz="1400">
                <a:solidFill>
                  <a:srgbClr val="C9D1D9"/>
                </a:solidFill>
              </a:rPr>
              <a:t/>
            </a:r>
          </a:p>
          <a:p xmlns:a="http://schemas.openxmlformats.org/drawingml/2006/main">
            <a:r>
              <a:rPr lang="en-US" sz="1400">
                <a:solidFill>
                  <a:srgbClr val="C9D1D9"/>
                </a:solidFill>
              </a:rPr>
              <a:t>where t = months elapsed since series start</a:t>
            </a:r>
          </a:p>
          <a:p xmlns:a="http://schemas.openxmlformats.org/drawingml/2006/main">
            <a:r>
              <a:rPr lang="en-US" sz="1400">
                <a:solidFill>
                  <a:srgbClr val="C9D1D9"/>
                </a:solidFill>
              </a:rPr>
              <a:t/>
            </a:r>
          </a:p>
          <a:p xmlns:a="http://schemas.openxmlformats.org/drawingml/2006/main">
            <a:r>
              <a:rPr lang="en-US" sz="1400">
                <a:solidFill>
                  <a:srgbClr val="C9D1D9"/>
                </a:solidFill>
              </a:rPr>
              <a:t>Real price:</a:t>
            </a:r>
          </a:p>
          <a:p xmlns:a="http://schemas.openxmlformats.org/drawingml/2006/main">
            <a:r>
              <a:rPr lang="en-US" sz="1400">
                <a:solidFill>
                  <a:srgbClr val="C9D1D9"/>
                </a:solidFill>
              </a:rPr>
              <a:t>  P_real(t)  =  P_nominal(t)  /  factor(t)</a:t>
            </a:r>
          </a:p>
          <a:p xmlns:a="http://schemas.openxmlformats.org/drawingml/2006/main">
            <a:r>
              <a:rPr lang="en-US" sz="1400">
                <a:solidFill>
                  <a:srgbClr val="C9D1D9"/>
                </a:solidFill>
              </a:rPr>
              <a:t/>
            </a:r>
          </a:p>
          <a:p xmlns:a="http://schemas.openxmlformats.org/drawingml/2006/main">
            <a:r>
              <a:rPr lang="en-US" sz="1400">
                <a:solidFill>
                  <a:srgbClr val="C9D1D9"/>
                </a:solidFill>
              </a:rPr>
              <a:t>Anchor: First date in the filtered date range</a:t>
            </a:r>
          </a:p>
          <a:p xmlns:a="http://schemas.openxmlformats.org/drawingml/2006/main">
            <a:r>
              <a:rPr lang="en-US" sz="1400">
                <a:solidFill>
                  <a:srgbClr val="C9D1D9"/>
                </a:solidFill>
              </a:rPr>
              <a:t/>
            </a:r>
          </a:p>
          <a:p xmlns:a="http://schemas.openxmlformats.org/drawingml/2006/main">
            <a:r>
              <a:rPr lang="en-US" sz="1400">
                <a:solidFill>
                  <a:srgbClr val="C9D1D9"/>
                </a:solidFill>
              </a:rPr>
              <a:t>Function: adjust_for_inflation(df)  →  DataFrame</a:t>
            </a:r>
          </a:p>
          <a:p xmlns:a="http://schemas.openxmlformats.org/drawingml/2006/main">
            <a:r>
              <a:rPr lang="en-US" sz="1400">
                <a:solidFill>
                  <a:srgbClr val="C9D1D9"/>
                </a:solidFill>
              </a:rPr>
              <a:t>Applied to entire df via df.div(factors, axis=0)</a:t>
            </a:r>
          </a:p>
        </p:txBody>
      </p:sp>
      <p:sp>
        <p:nvSpPr>
          <p:cNvPr id="100088" name="ImpactBox"/>
          <p:cNvSpPr txBox="1"/>
          <p:nvPr/>
        </p:nvSpPr>
        <p:spPr>
          <a:xfrm xmlns:a="http://schemas.openxmlformats.org/drawingml/2006/main">
            <a:off x="6264000" y="2628000"/>
            <a:ext cx="5220000" cy="3348000"/>
          </a:xfrm>
          <a:prstGeom xmlns:a="http://schemas.openxmlformats.org/drawingml/2006/main" prst="rect">
            <a:avLst/>
          </a:prstGeom>
          <a:solidFill xmlns:a="http://schemas.openxmlformats.org/drawingml/2006/main">
            <a:srgbClr val="161B22"/>
          </a:solidFill>
        </p:spPr>
        <p:txBody>
          <a:bodyPr xmlns:a="http://schemas.openxmlformats.org/drawingml/2006/main"/>
          <a:lstStyle xmlns:a="http://schemas.openxmlformats.org/drawingml/2006/main"/>
          <a:p xmlns:a="http://schemas.openxmlformats.org/drawingml/2006/main">
            <a:endParaRPr lang="en-US">
              <a:solidFill>
                <a:srgbClr val="E3B341"/>
              </a:solidFill>
            </a:endParaRPr>
          </a:p>
        </p:txBody>
      </p:sp>
      <p:sp>
        <p:nvSpPr>
          <p:cNvPr id="100089" name="ImpactLabel"/>
          <p:cNvSpPr txBox="1"/>
          <p:nvPr/>
        </p:nvSpPr>
        <p:spPr>
          <a:xfrm xmlns:a="http://schemas.openxmlformats.org/drawingml/2006/main">
            <a:off x="6444000" y="2736000"/>
            <a:ext cx="4680000" cy="216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000" b="1">
                <a:solidFill>
                  <a:srgbClr val="E3B341"/>
                </a:solidFill>
              </a:rPr>
              <a:t>BUSINESS IMPACT</a:t>
            </a:r>
          </a:p>
        </p:txBody>
      </p:sp>
      <p:sp>
        <p:nvSpPr>
          <p:cNvPr id="100090" name="ImpactContent"/>
          <p:cNvSpPr txBox="1"/>
          <p:nvPr/>
        </p:nvSpPr>
        <p:spPr>
          <a:xfrm xmlns:a="http://schemas.openxmlformats.org/drawingml/2006/main">
            <a:off x="6444000" y="2988000"/>
            <a:ext cx="4860000" cy="288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400">
                <a:solidFill>
                  <a:srgbClr val="C9D1D9"/>
                </a:solidFill>
              </a:rPr>
              <a:t>What real prices expose:</a:t>
            </a:r>
          </a:p>
          <a:p xmlns:a="http://schemas.openxmlformats.org/drawingml/2006/main">
            <a:r>
              <a:rPr lang="en-US" sz="1400">
                <a:solidFill>
                  <a:srgbClr val="C9D1D9"/>
                </a:solidFill>
              </a:rPr>
              <a:t/>
            </a:r>
          </a:p>
          <a:p xmlns:a="http://schemas.openxmlformats.org/drawingml/2006/main">
            <a:r>
              <a:rPr lang="en-US" sz="1400">
                <a:solidFill>
                  <a:srgbClr val="C9D1D9"/>
                </a:solidFill>
              </a:rPr>
              <a:t>• True affordability trends for consumers</a:t>
            </a:r>
          </a:p>
          <a:p xmlns:a="http://schemas.openxmlformats.org/drawingml/2006/main">
            <a:r>
              <a:rPr lang="en-US" sz="1400">
                <a:solidFill>
                  <a:srgbClr val="C9D1D9"/>
                </a:solidFill>
              </a:rPr>
              <a:t>• Whether price rises are structural or inflationary</a:t>
            </a:r>
          </a:p>
          <a:p xmlns:a="http://schemas.openxmlformats.org/drawingml/2006/main">
            <a:r>
              <a:rPr lang="en-US" sz="1400">
                <a:solidFill>
                  <a:srgbClr val="C9D1D9"/>
                </a:solidFill>
              </a:rPr>
              <a:t>• Which items outpace general inflation</a:t>
            </a:r>
          </a:p>
          <a:p xmlns:a="http://schemas.openxmlformats.org/drawingml/2006/main">
            <a:r>
              <a:rPr lang="en-US" sz="1400">
                <a:solidFill>
                  <a:srgbClr val="C9D1D9"/>
                </a:solidFill>
              </a:rPr>
              <a:t/>
            </a:r>
          </a:p>
          <a:p xmlns:a="http://schemas.openxmlformats.org/drawingml/2006/main">
            <a:r>
              <a:rPr lang="en-US" sz="1400">
                <a:solidFill>
                  <a:srgbClr val="C9D1D9"/>
                </a:solidFill>
              </a:rPr>
              <a:t>Visual cues in the app:</a:t>
            </a:r>
          </a:p>
          <a:p xmlns:a="http://schemas.openxmlformats.org/drawingml/2006/main">
            <a:r>
              <a:rPr lang="en-US" sz="1400">
                <a:solidFill>
                  <a:srgbClr val="C9D1D9"/>
                </a:solidFill>
              </a:rPr>
              <a:t>• Toggle in sidebar: ON shows real prices</a:t>
            </a:r>
          </a:p>
          <a:p xmlns:a="http://schemas.openxmlformats.org/drawingml/2006/main">
            <a:r>
              <a:rPr lang="en-US" sz="1400">
                <a:solidFill>
                  <a:srgbClr val="C9D1D9"/>
                </a:solidFill>
              </a:rPr>
              <a:t>• Hero badge changes: "Real Prices" vs "Nominal"</a:t>
            </a:r>
          </a:p>
          <a:p xmlns:a="http://schemas.openxmlformats.org/drawingml/2006/main">
            <a:r>
              <a:rPr lang="en-US" sz="1400">
                <a:solidFill>
                  <a:srgbClr val="C9D1D9"/>
                </a:solidFill>
              </a:rPr>
              <a:t>• YoY% chart includes 3.5% inflation benchmark line</a:t>
            </a:r>
          </a:p>
          <a:p xmlns:a="http://schemas.openxmlformats.org/drawingml/2006/main">
            <a:r>
              <a:rPr lang="en-US" sz="1400">
                <a:solidFill>
                  <a:srgbClr val="C9D1D9"/>
                </a:solidFill>
              </a:rPr>
              <a:t>• AI insight panel updates its language accordingly</a:t>
            </a:r>
          </a:p>
          <a:p xmlns:a="http://schemas.openxmlformats.org/drawingml/2006/main">
            <a:r>
              <a:rPr lang="en-US" sz="1400">
                <a:solidFill>
                  <a:srgbClr val="C9D1D9"/>
                </a:solidFill>
              </a:rPr>
              <a:t/>
            </a:r>
          </a:p>
          <a:p xmlns:a="http://schemas.openxmlformats.org/drawingml/2006/main">
            <a:r>
              <a:rPr lang="en-US" sz="1400">
                <a:solidFill>
                  <a:srgbClr val="C9D1D9"/>
                </a:solidFill>
              </a:rPr>
              <a:t>Policy implication:</a:t>
            </a:r>
          </a:p>
          <a:p xmlns:a="http://schemas.openxmlformats.org/drawingml/2006/main">
            <a:r>
              <a:rPr lang="en-US" sz="1400">
                <a:solidFill>
                  <a:srgbClr val="C9D1D9"/>
                </a:solidFill>
              </a:rPr>
              <a:t>• Egg prices rose ~180% nominal (2021–2023)</a:t>
            </a:r>
          </a:p>
          <a:p xmlns:a="http://schemas.openxmlformats.org/drawingml/2006/main">
            <a:r>
              <a:rPr lang="en-US" sz="1400">
                <a:solidFill>
                  <a:srgbClr val="C9D1D9"/>
                </a:solidFill>
              </a:rPr>
              <a:t>• After inflation adjustment: ~140% real increase</a:t>
            </a:r>
          </a:p>
          <a:p xmlns:a="http://schemas.openxmlformats.org/drawingml/2006/main">
            <a:r>
              <a:rPr lang="en-US" sz="1400">
                <a:solidFill>
                  <a:srgbClr val="C9D1D9"/>
                </a:solidFill>
              </a:rPr>
              <a:t>• Still extreme — but precisely quantified</a:t>
            </a:r>
          </a:p>
          <a:p xmlns:a="http://schemas.openxmlformats.org/drawingml/2006/main">
            <a:r>
              <a:rPr lang="en-US" sz="1400">
                <a:solidFill>
                  <a:srgbClr val="C9D1D9"/>
                </a:solidFill>
              </a:rPr>
              <a:t/>
            </a:r>
          </a:p>
          <a:p xmlns:a="http://schemas.openxmlformats.org/drawingml/2006/main">
            <a:r>
              <a:rPr lang="en-US" sz="1400">
                <a:solidFill>
                  <a:srgbClr val="C9D1D9"/>
                </a:solidFill>
              </a:rPr>
              <a:t>Limitation: Uses fixed 35% index; can be replaced with actual monthly CPI data for higher accuracy.</a:t>
            </a:r>
          </a:p>
        </p:txBody>
      </p:sp>
    </p:spTree>
  </p:cSld>
</p:sld>
</file>

<file path=ppt/slides/slide7.xml><?xml version="1.0" encoding="utf-8"?>
<p:sld xmlns:a="http://schemas.openxmlformats.org/drawingml/2006/main" xmlns:p="http://schemas.openxmlformats.org/presentationml/2006/main">
  <p:cSld>
    <p:bg>
      <p:bgPr>
        <a:solidFill xmlns:a="http://schemas.openxmlformats.org/drawingml/2006/main">
          <a:srgbClr val="0D1117"/>
        </a:solidFill>
      </p:bgPr>
    </p:bg>
    <p:spTree>
      <p:nvGrpSpPr>
        <p:cNvPr id="1" name=""/>
        <p:cNvGrpSpPr/>
        <p:nvPr/>
      </p:nvGrpSpPr>
      <p:grpSpPr/>
      <p:sp>
        <p:nvSpPr>
          <p:cNvPr id="100091" name="TopBar"/>
          <p:cNvSpPr txBox="1"/>
          <p:nvPr/>
        </p:nvSpPr>
        <p:spPr>
          <a:xfrm xmlns:a="http://schemas.openxmlformats.org/drawingml/2006/main">
            <a:off x="0" y="0"/>
            <a:ext cx="12193200" cy="126000"/>
          </a:xfrm>
          <a:prstGeom xmlns:a="http://schemas.openxmlformats.org/drawingml/2006/main" prst="rect">
            <a:avLst/>
          </a:prstGeom>
          <a:solidFill xmlns:a="http://schemas.openxmlformats.org/drawingml/2006/main">
            <a:srgbClr val="1F6FEB"/>
          </a:solidFill>
        </p:spPr>
        <p:txBody>
          <a:bodyPr xmlns:a="http://schemas.openxmlformats.org/drawingml/2006/main"/>
          <a:lstStyle xmlns:a="http://schemas.openxmlformats.org/drawingml/2006/main"/>
          <a:p xmlns:a="http://schemas.openxmlformats.org/drawingml/2006/main">
            <a:endParaRPr lang="en-US">
              <a:solidFill>
                <a:srgbClr val="1F6FEB"/>
              </a:solidFill>
            </a:endParaRPr>
          </a:p>
        </p:txBody>
      </p:sp>
      <p:sp>
        <p:nvSpPr>
          <p:cNvPr id="100092" name="SlideLabel"/>
          <p:cNvSpPr txBox="1"/>
          <p:nvPr/>
        </p:nvSpPr>
        <p:spPr>
          <a:xfrm xmlns:a="http://schemas.openxmlformats.org/drawingml/2006/main">
            <a:off x="720000" y="252000"/>
            <a:ext cx="7200000" cy="216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000" b="1">
                <a:solidFill>
                  <a:srgbClr val="58A6FF"/>
                </a:solidFill>
              </a:rPr>
              <a:t>ANALYTICS ENGINE — FEATURE 4</a:t>
            </a:r>
          </a:p>
        </p:txBody>
      </p:sp>
      <p:sp>
        <p:nvSpPr>
          <p:cNvPr id="100093" name="SlideNum"/>
          <p:cNvSpPr txBox="1"/>
          <p:nvPr/>
        </p:nvSpPr>
        <p:spPr>
          <a:xfrm xmlns:a="http://schemas.openxmlformats.org/drawingml/2006/main">
            <a:off x="10800000" y="6408000"/>
            <a:ext cx="1080000" cy="216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a:solidFill>
                  <a:srgbClr val="484F58"/>
                </a:solidFill>
              </a:rPr>
              <a:t>07</a:t>
            </a:r>
          </a:p>
        </p:txBody>
      </p:sp>
      <p:sp>
        <p:nvSpPr>
          <p:cNvPr id="100094" name="Title"/>
          <p:cNvSpPr txBox="1"/>
          <p:nvPr/>
        </p:nvSpPr>
        <p:spPr>
          <a:xfrm xmlns:a="http://schemas.openxmlformats.org/drawingml/2006/main">
            <a:off x="720000" y="540000"/>
            <a:ext cx="10080000" cy="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600" b="1">
                <a:solidFill>
                  <a:srgbClr val="E6EDF3"/>
                </a:solidFill>
              </a:rPr>
              <a:t>Lagged Correlation Engine</a:t>
            </a:r>
          </a:p>
        </p:txBody>
      </p:sp>
      <p:sp>
        <p:nvSpPr>
          <p:cNvPr id="100095" name="Divider"/>
          <p:cNvSpPr txBox="1"/>
          <p:nvPr/>
        </p:nvSpPr>
        <p:spPr>
          <a:xfrm xmlns:a="http://schemas.openxmlformats.org/drawingml/2006/main">
            <a:off x="720000" y="1116000"/>
            <a:ext cx="10753200" cy="18000"/>
          </a:xfrm>
          <a:prstGeom xmlns:a="http://schemas.openxmlformats.org/drawingml/2006/main" prst="rect">
            <a:avLst/>
          </a:prstGeom>
          <a:solidFill xmlns:a="http://schemas.openxmlformats.org/drawingml/2006/main">
            <a:srgbClr val="21262D"/>
          </a:solidFill>
        </p:spPr>
        <p:txBody>
          <a:bodyPr xmlns:a="http://schemas.openxmlformats.org/drawingml/2006/main"/>
          <a:lstStyle xmlns:a="http://schemas.openxmlformats.org/drawingml/2006/main"/>
          <a:p xmlns:a="http://schemas.openxmlformats.org/drawingml/2006/main">
            <a:endParaRPr lang="en-US">
              <a:solidFill>
                <a:srgbClr val="21262D"/>
              </a:solidFill>
            </a:endParaRPr>
          </a:p>
        </p:txBody>
      </p:sp>
      <p:sp>
        <p:nvSpPr>
          <p:cNvPr id="100096" name="QuestionBox"/>
          <p:cNvSpPr txBox="1"/>
          <p:nvPr/>
        </p:nvSpPr>
        <p:spPr>
          <a:xfrm xmlns:a="http://schemas.openxmlformats.org/drawingml/2006/main">
            <a:off x="720000" y="1260000"/>
            <a:ext cx="10753200" cy="720000"/>
          </a:xfrm>
          <a:prstGeom xmlns:a="http://schemas.openxmlformats.org/drawingml/2006/main" prst="rect">
            <a:avLst/>
          </a:prstGeom>
          <a:solidFill xmlns:a="http://schemas.openxmlformats.org/drawingml/2006/main">
            <a:srgbClr val="1B2132"/>
          </a:solidFill>
        </p:spPr>
        <p:txBody>
          <a:bodyPr xmlns:a="http://schemas.openxmlformats.org/drawingml/2006/main"/>
          <a:lstStyle xmlns:a="http://schemas.openxmlformats.org/drawingml/2006/main"/>
          <a:p xmlns:a="http://schemas.openxmlformats.org/drawingml/2006/main">
            <a:endParaRPr lang="en-US">
              <a:solidFill>
                <a:srgbClr val="58A6FF"/>
              </a:solidFill>
            </a:endParaRPr>
          </a:p>
        </p:txBody>
      </p:sp>
      <p:sp>
        <p:nvSpPr>
          <p:cNvPr id="100097" name="Question"/>
          <p:cNvSpPr txBox="1"/>
          <p:nvPr/>
        </p:nvSpPr>
        <p:spPr>
          <a:xfrm xmlns:a="http://schemas.openxmlformats.org/drawingml/2006/main">
            <a:off x="900000" y="1368000"/>
            <a:ext cx="10440000" cy="43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800" b="1">
                <a:solidFill>
                  <a:srgbClr val="79C0FF"/>
                </a:solidFill>
              </a:rPr>
              <a:t>Research Question:   When gasoline prices spike, how many months does it take for grocery prices to rise?</a:t>
            </a:r>
          </a:p>
        </p:txBody>
      </p:sp>
      <p:sp>
        <p:nvSpPr>
          <p:cNvPr id="100098" name="MethodBox"/>
          <p:cNvSpPr txBox="1"/>
          <p:nvPr/>
        </p:nvSpPr>
        <p:spPr>
          <a:xfrm xmlns:a="http://schemas.openxmlformats.org/drawingml/2006/main">
            <a:off x="720000" y="2088000"/>
            <a:ext cx="5184000" cy="2340000"/>
          </a:xfrm>
          <a:prstGeom xmlns:a="http://schemas.openxmlformats.org/drawingml/2006/main" prst="rect">
            <a:avLst/>
          </a:prstGeom>
          <a:solidFill xmlns:a="http://schemas.openxmlformats.org/drawingml/2006/main">
            <a:srgbClr val="161B22"/>
          </a:solidFill>
        </p:spPr>
        <p:txBody>
          <a:bodyPr xmlns:a="http://schemas.openxmlformats.org/drawingml/2006/main"/>
          <a:lstStyle xmlns:a="http://schemas.openxmlformats.org/drawingml/2006/main"/>
          <a:p xmlns:a="http://schemas.openxmlformats.org/drawingml/2006/main">
            <a:endParaRPr lang="en-US">
              <a:solidFill>
                <a:srgbClr val="E3B341"/>
              </a:solidFill>
            </a:endParaRPr>
          </a:p>
        </p:txBody>
      </p:sp>
      <p:sp>
        <p:nvSpPr>
          <p:cNvPr id="100099" name="MethodLabel"/>
          <p:cNvSpPr txBox="1"/>
          <p:nvPr/>
        </p:nvSpPr>
        <p:spPr>
          <a:xfrm xmlns:a="http://schemas.openxmlformats.org/drawingml/2006/main">
            <a:off x="900000" y="2196000"/>
            <a:ext cx="2880000" cy="216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000" b="1">
                <a:solidFill>
                  <a:srgbClr val="E3B341"/>
                </a:solidFill>
              </a:rPr>
              <a:t>METHOD</a:t>
            </a:r>
          </a:p>
        </p:txBody>
      </p:sp>
      <p:sp>
        <p:nvSpPr>
          <p:cNvPr id="100100" name="MethodContent"/>
          <p:cNvSpPr txBox="1"/>
          <p:nvPr/>
        </p:nvSpPr>
        <p:spPr>
          <a:xfrm xmlns:a="http://schemas.openxmlformats.org/drawingml/2006/main">
            <a:off x="900000" y="2448000"/>
            <a:ext cx="4860000" cy="180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400">
                <a:solidFill>
                  <a:srgbClr val="C9D1D9"/>
                </a:solidFill>
              </a:rPr>
              <a:t>compute_lagged_correlation(df, fuel_col, grocery_col, max_lag)</a:t>
            </a:r>
          </a:p>
          <a:p xmlns:a="http://schemas.openxmlformats.org/drawingml/2006/main">
            <a:r>
              <a:rPr lang="en-US" sz="1400">
                <a:solidFill>
                  <a:srgbClr val="C9D1D9"/>
                </a:solidFill>
              </a:rPr>
              <a:t/>
            </a:r>
          </a:p>
          <a:p xmlns:a="http://schemas.openxmlformats.org/drawingml/2006/main">
            <a:r>
              <a:rPr lang="en-US" sz="1400">
                <a:solidFill>
                  <a:srgbClr val="C9D1D9"/>
                </a:solidFill>
              </a:rPr>
              <a:t>For each lag L in [0 … max_lag]:</a:t>
            </a:r>
          </a:p>
          <a:p xmlns:a="http://schemas.openxmlformats.org/drawingml/2006/main">
            <a:r>
              <a:rPr lang="en-US" sz="1400">
                <a:solidFill>
                  <a:srgbClr val="C9D1D9"/>
                </a:solidFill>
              </a:rPr>
              <a:t>  fuel_shifted    = fuel.iloc[L:]</a:t>
            </a:r>
          </a:p>
          <a:p xmlns:a="http://schemas.openxmlformats.org/drawingml/2006/main">
            <a:r>
              <a:rPr lang="en-US" sz="1400">
                <a:solidFill>
                  <a:srgbClr val="C9D1D9"/>
                </a:solidFill>
              </a:rPr>
              <a:t>  grocery_aligned = grocery.iloc[:-L]</a:t>
            </a:r>
          </a:p>
          <a:p xmlns:a="http://schemas.openxmlformats.org/drawingml/2006/main">
            <a:r>
              <a:rPr lang="en-US" sz="1400">
                <a:solidFill>
                  <a:srgbClr val="C9D1D9"/>
                </a:solidFill>
              </a:rPr>
              <a:t>  r(L)            = Pearson correlation</a:t>
            </a:r>
          </a:p>
          <a:p xmlns:a="http://schemas.openxmlformats.org/drawingml/2006/main">
            <a:r>
              <a:rPr lang="en-US" sz="1400">
                <a:solidFill>
                  <a:srgbClr val="C9D1D9"/>
                </a:solidFill>
              </a:rPr>
              <a:t/>
            </a:r>
          </a:p>
          <a:p xmlns:a="http://schemas.openxmlformats.org/drawingml/2006/main">
            <a:r>
              <a:rPr lang="en-US" sz="1400">
                <a:solidFill>
                  <a:srgbClr val="C9D1D9"/>
                </a:solidFill>
              </a:rPr>
              <a:t>Lag 0 → same-month correlation</a:t>
            </a:r>
          </a:p>
          <a:p xmlns:a="http://schemas.openxmlformats.org/drawingml/2006/main">
            <a:r>
              <a:rPr lang="en-US" sz="1400">
                <a:solidFill>
                  <a:srgbClr val="C9D1D9"/>
                </a:solidFill>
              </a:rPr>
              <a:t>Lag 3 → grocery responds 3 months later</a:t>
            </a:r>
          </a:p>
          <a:p xmlns:a="http://schemas.openxmlformats.org/drawingml/2006/main">
            <a:r>
              <a:rPr lang="en-US" sz="1400">
                <a:solidFill>
                  <a:srgbClr val="C9D1D9"/>
                </a:solidFill>
              </a:rPr>
              <a:t/>
            </a:r>
          </a:p>
          <a:p xmlns:a="http://schemas.openxmlformats.org/drawingml/2006/main">
            <a:r>
              <a:rPr lang="en-US" sz="1400">
                <a:solidFill>
                  <a:srgbClr val="C9D1D9"/>
                </a:solidFill>
              </a:rPr>
              <a:t>Interpretation thresholds:</a:t>
            </a:r>
          </a:p>
          <a:p xmlns:a="http://schemas.openxmlformats.org/drawingml/2006/main">
            <a:r>
              <a:rPr lang="en-US" sz="1400">
                <a:solidFill>
                  <a:srgbClr val="C9D1D9"/>
                </a:solidFill>
              </a:rPr>
              <a:t>  |r| ≥ 0.7  →  Strong</a:t>
            </a:r>
          </a:p>
          <a:p xmlns:a="http://schemas.openxmlformats.org/drawingml/2006/main">
            <a:r>
              <a:rPr lang="en-US" sz="1400">
                <a:solidFill>
                  <a:srgbClr val="C9D1D9"/>
                </a:solidFill>
              </a:rPr>
              <a:t>  |r| ≥ 0.4  →  Moderate</a:t>
            </a:r>
          </a:p>
          <a:p xmlns:a="http://schemas.openxmlformats.org/drawingml/2006/main">
            <a:r>
              <a:rPr lang="en-US" sz="1400">
                <a:solidFill>
                  <a:srgbClr val="C9D1D9"/>
                </a:solidFill>
              </a:rPr>
              <a:t>  |r| &lt; 0.4  →  Weak</a:t>
            </a:r>
          </a:p>
          <a:p xmlns:a="http://schemas.openxmlformats.org/drawingml/2006/main">
            <a:r>
              <a:rPr lang="en-US" sz="1400">
                <a:solidFill>
                  <a:srgbClr val="C9D1D9"/>
                </a:solidFill>
              </a:rPr>
              <a:t/>
            </a:r>
          </a:p>
          <a:p xmlns:a="http://schemas.openxmlformats.org/drawingml/2006/main">
            <a:r>
              <a:rPr lang="en-US" sz="1400">
                <a:solidFill>
                  <a:srgbClr val="C9D1D9"/>
                </a:solidFill>
              </a:rPr>
              <a:t>full_correlation_matrix()  builds a 20-item × lag heatmap</a:t>
            </a:r>
          </a:p>
        </p:txBody>
      </p:sp>
      <p:sp>
        <p:nvSpPr>
          <p:cNvPr id="100101" name="VisualsBox"/>
          <p:cNvSpPr txBox="1"/>
          <p:nvPr/>
        </p:nvSpPr>
        <p:spPr>
          <a:xfrm xmlns:a="http://schemas.openxmlformats.org/drawingml/2006/main">
            <a:off x="6264000" y="2088000"/>
            <a:ext cx="5220000" cy="2340000"/>
          </a:xfrm>
          <a:prstGeom xmlns:a="http://schemas.openxmlformats.org/drawingml/2006/main" prst="rect">
            <a:avLst/>
          </a:prstGeom>
          <a:solidFill xmlns:a="http://schemas.openxmlformats.org/drawingml/2006/main">
            <a:srgbClr val="161B22"/>
          </a:solidFill>
        </p:spPr>
        <p:txBody>
          <a:bodyPr xmlns:a="http://schemas.openxmlformats.org/drawingml/2006/main"/>
          <a:lstStyle xmlns:a="http://schemas.openxmlformats.org/drawingml/2006/main"/>
          <a:p xmlns:a="http://schemas.openxmlformats.org/drawingml/2006/main">
            <a:endParaRPr lang="en-US">
              <a:solidFill>
                <a:srgbClr val="3FB950"/>
              </a:solidFill>
            </a:endParaRPr>
          </a:p>
        </p:txBody>
      </p:sp>
      <p:sp>
        <p:nvSpPr>
          <p:cNvPr id="100102" name="VisualsLabel"/>
          <p:cNvSpPr txBox="1"/>
          <p:nvPr/>
        </p:nvSpPr>
        <p:spPr>
          <a:xfrm xmlns:a="http://schemas.openxmlformats.org/drawingml/2006/main">
            <a:off x="6444000" y="2196000"/>
            <a:ext cx="3600000" cy="216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000" b="1">
                <a:solidFill>
                  <a:srgbClr val="3FB950"/>
                </a:solidFill>
              </a:rPr>
              <a:t>VISUALIZATIONS</a:t>
            </a:r>
          </a:p>
        </p:txBody>
      </p:sp>
      <p:sp>
        <p:nvSpPr>
          <p:cNvPr id="100103" name="VisualsContent"/>
          <p:cNvSpPr txBox="1"/>
          <p:nvPr/>
        </p:nvSpPr>
        <p:spPr>
          <a:xfrm xmlns:a="http://schemas.openxmlformats.org/drawingml/2006/main">
            <a:off x="6444000" y="2448000"/>
            <a:ext cx="4860000" cy="180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400">
                <a:solidFill>
                  <a:srgbClr val="C9D1D9"/>
                </a:solidFill>
              </a:rPr>
              <a:t>1. Lag Correlation Bar Chart</a:t>
            </a:r>
          </a:p>
          <a:p xmlns:a="http://schemas.openxmlformats.org/drawingml/2006/main">
            <a:r>
              <a:rPr lang="en-US" sz="1400">
                <a:solidFill>
                  <a:srgbClr val="C9D1D9"/>
                </a:solidFill>
              </a:rPr>
              <a:t>   • x-axis: lag in months</a:t>
            </a:r>
          </a:p>
          <a:p xmlns:a="http://schemas.openxmlformats.org/drawingml/2006/main">
            <a:r>
              <a:rPr lang="en-US" sz="1400">
                <a:solidFill>
                  <a:srgbClr val="C9D1D9"/>
                </a:solidFill>
              </a:rPr>
              <a:t>   • y-axis: Pearson r  (-1 to +1)</a:t>
            </a:r>
          </a:p>
          <a:p xmlns:a="http://schemas.openxmlformats.org/drawingml/2006/main">
            <a:r>
              <a:rPr lang="en-US" sz="1400">
                <a:solidFill>
                  <a:srgbClr val="C9D1D9"/>
                </a:solidFill>
              </a:rPr>
              <a:t>   • Bars coloured by strength tier</a:t>
            </a:r>
          </a:p>
          <a:p xmlns:a="http://schemas.openxmlformats.org/drawingml/2006/main">
            <a:r>
              <a:rPr lang="en-US" sz="1400">
                <a:solidFill>
                  <a:srgbClr val="C9D1D9"/>
                </a:solidFill>
              </a:rPr>
              <a:t>   • Reference lines at r = ±0.4 and ±0.7</a:t>
            </a:r>
          </a:p>
          <a:p xmlns:a="http://schemas.openxmlformats.org/drawingml/2006/main">
            <a:r>
              <a:rPr lang="en-US" sz="1400">
                <a:solidFill>
                  <a:srgbClr val="C9D1D9"/>
                </a:solidFill>
              </a:rPr>
              <a:t/>
            </a:r>
          </a:p>
          <a:p xmlns:a="http://schemas.openxmlformats.org/drawingml/2006/main">
            <a:r>
              <a:rPr lang="en-US" sz="1400">
                <a:solidFill>
                  <a:srgbClr val="C9D1D9"/>
                </a:solidFill>
              </a:rPr>
              <a:t>2. Raw Data Table</a:t>
            </a:r>
          </a:p>
          <a:p xmlns:a="http://schemas.openxmlformats.org/drawingml/2006/main">
            <a:r>
              <a:rPr lang="en-US" sz="1400">
                <a:solidFill>
                  <a:srgbClr val="C9D1D9"/>
                </a:solidFill>
              </a:rPr>
              <a:t>   • lag | correlation | interpretation</a:t>
            </a:r>
          </a:p>
          <a:p xmlns:a="http://schemas.openxmlformats.org/drawingml/2006/main">
            <a:r>
              <a:rPr lang="en-US" sz="1400">
                <a:solidFill>
                  <a:srgbClr val="C9D1D9"/>
                </a:solidFill>
              </a:rPr>
              <a:t>   • Heatmap gradient styling</a:t>
            </a:r>
          </a:p>
          <a:p xmlns:a="http://schemas.openxmlformats.org/drawingml/2006/main">
            <a:r>
              <a:rPr lang="en-US" sz="1400">
                <a:solidFill>
                  <a:srgbClr val="C9D1D9"/>
                </a:solidFill>
              </a:rPr>
              <a:t/>
            </a:r>
          </a:p>
          <a:p xmlns:a="http://schemas.openxmlformats.org/drawingml/2006/main">
            <a:r>
              <a:rPr lang="en-US" sz="1400">
                <a:solidFill>
                  <a:srgbClr val="C9D1D9"/>
                </a:solidFill>
              </a:rPr>
              <a:t>3. Full 20-Item Lag Heatmap</a:t>
            </a:r>
          </a:p>
          <a:p xmlns:a="http://schemas.openxmlformats.org/drawingml/2006/main">
            <a:r>
              <a:rPr lang="en-US" sz="1400">
                <a:solidFill>
                  <a:srgbClr val="C9D1D9"/>
                </a:solidFill>
              </a:rPr>
              <a:t>   • Rows = top-20 grocery items</a:t>
            </a:r>
          </a:p>
          <a:p xmlns:a="http://schemas.openxmlformats.org/drawingml/2006/main">
            <a:r>
              <a:rPr lang="en-US" sz="1400">
                <a:solidFill>
                  <a:srgbClr val="C9D1D9"/>
                </a:solidFill>
              </a:rPr>
              <a:t>   • Columns = lag months</a:t>
            </a:r>
          </a:p>
          <a:p xmlns:a="http://schemas.openxmlformats.org/drawingml/2006/main">
            <a:r>
              <a:rPr lang="en-US" sz="1400">
                <a:solidFill>
                  <a:srgbClr val="C9D1D9"/>
                </a:solidFill>
              </a:rPr>
              <a:t>   • Red–Green diverging colorscale</a:t>
            </a:r>
          </a:p>
        </p:txBody>
      </p:sp>
      <p:sp>
        <p:nvSpPr>
          <p:cNvPr id="100104" name="FindingsBox"/>
          <p:cNvSpPr txBox="1"/>
          <p:nvPr/>
        </p:nvSpPr>
        <p:spPr>
          <a:xfrm xmlns:a="http://schemas.openxmlformats.org/drawingml/2006/main">
            <a:off x="720000" y="4536000"/>
            <a:ext cx="10753200" cy="1440000"/>
          </a:xfrm>
          <a:prstGeom xmlns:a="http://schemas.openxmlformats.org/drawingml/2006/main" prst="rect">
            <a:avLst/>
          </a:prstGeom>
          <a:solidFill xmlns:a="http://schemas.openxmlformats.org/drawingml/2006/main">
            <a:srgbClr val="161B22"/>
          </a:solidFill>
        </p:spPr>
        <p:txBody>
          <a:bodyPr xmlns:a="http://schemas.openxmlformats.org/drawingml/2006/main"/>
          <a:lstStyle xmlns:a="http://schemas.openxmlformats.org/drawingml/2006/main"/>
          <a:p xmlns:a="http://schemas.openxmlformats.org/drawingml/2006/main">
            <a:endParaRPr lang="en-US">
              <a:solidFill>
                <a:srgbClr val="58A6FF"/>
              </a:solidFill>
            </a:endParaRPr>
          </a:p>
        </p:txBody>
      </p:sp>
      <p:sp>
        <p:nvSpPr>
          <p:cNvPr id="100105" name="FindingsLabel"/>
          <p:cNvSpPr txBox="1"/>
          <p:nvPr/>
        </p:nvSpPr>
        <p:spPr>
          <a:xfrm xmlns:a="http://schemas.openxmlformats.org/drawingml/2006/main">
            <a:off x="900000" y="4644000"/>
            <a:ext cx="4320000" cy="216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000" b="1">
                <a:solidFill>
                  <a:srgbClr val="58A6FF"/>
                </a:solidFill>
              </a:rPr>
              <a:t>EXPECTED FINDINGS</a:t>
            </a:r>
          </a:p>
        </p:txBody>
      </p:sp>
      <p:sp>
        <p:nvSpPr>
          <p:cNvPr id="100106" name="FindingsContent"/>
          <p:cNvSpPr txBox="1"/>
          <p:nvPr/>
        </p:nvSpPr>
        <p:spPr>
          <a:xfrm xmlns:a="http://schemas.openxmlformats.org/drawingml/2006/main">
            <a:off x="900000" y="4896000"/>
            <a:ext cx="10440000" cy="97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400">
                <a:solidFill>
                  <a:srgbClr val="C9D1D9"/>
                </a:solidFill>
              </a:rPr>
              <a:t>Gasoline price changes typically transmit to grocery costs within 1–3 months (logistics &amp; transport cost pass-through).</a:t>
            </a:r>
          </a:p>
          <a:p xmlns:a="http://schemas.openxmlformats.org/drawingml/2006/main">
            <a:r>
              <a:rPr lang="en-US" sz="1400">
                <a:solidFill>
                  <a:srgbClr val="C9D1D9"/>
                </a:solidFill>
              </a:rPr>
              <a:t>Items with high refrigeration/transport content (meat, dairy) show stronger lag correlations than shelf-stable goods (flour, sugar).</a:t>
            </a:r>
          </a:p>
          <a:p xmlns:a="http://schemas.openxmlformats.org/drawingml/2006/main">
            <a:r>
              <a:rPr lang="en-US" sz="1400">
                <a:solidFill>
                  <a:srgbClr val="C9D1D9"/>
                </a:solidFill>
              </a:rPr>
              <a:t>The 2022 fuel shock showed lag-0 and lag-1 grocery correlations of r ≈ 0.75–0.85 for perishables — near-instantaneous pass-through during supply crises.</a:t>
            </a:r>
          </a:p>
        </p:txBody>
      </p:sp>
    </p:spTree>
  </p:cSld>
</p:sld>
</file>

<file path=ppt/slides/slide8.xml><?xml version="1.0" encoding="utf-8"?>
<p:sld xmlns:a="http://schemas.openxmlformats.org/drawingml/2006/main" xmlns:p="http://schemas.openxmlformats.org/presentationml/2006/main">
  <p:cSld>
    <p:bg>
      <p:bgPr>
        <a:solidFill xmlns:a="http://schemas.openxmlformats.org/drawingml/2006/main">
          <a:srgbClr val="0D1117"/>
        </a:solidFill>
      </p:bgPr>
    </p:bg>
    <p:spTree>
      <p:nvGrpSpPr>
        <p:cNvPr id="1" name=""/>
        <p:cNvGrpSpPr/>
        <p:nvPr/>
      </p:nvGrpSpPr>
      <p:grpSpPr/>
      <p:sp>
        <p:nvSpPr>
          <p:cNvPr id="100107" name="TopBar"/>
          <p:cNvSpPr txBox="1"/>
          <p:nvPr/>
        </p:nvSpPr>
        <p:spPr>
          <a:xfrm xmlns:a="http://schemas.openxmlformats.org/drawingml/2006/main">
            <a:off x="0" y="0"/>
            <a:ext cx="12193200" cy="126000"/>
          </a:xfrm>
          <a:prstGeom xmlns:a="http://schemas.openxmlformats.org/drawingml/2006/main" prst="rect">
            <a:avLst/>
          </a:prstGeom>
          <a:solidFill xmlns:a="http://schemas.openxmlformats.org/drawingml/2006/main">
            <a:srgbClr val="1F6FEB"/>
          </a:solidFill>
        </p:spPr>
        <p:txBody>
          <a:bodyPr xmlns:a="http://schemas.openxmlformats.org/drawingml/2006/main"/>
          <a:lstStyle xmlns:a="http://schemas.openxmlformats.org/drawingml/2006/main"/>
          <a:p xmlns:a="http://schemas.openxmlformats.org/drawingml/2006/main">
            <a:endParaRPr lang="en-US">
              <a:solidFill>
                <a:srgbClr val="1F6FEB"/>
              </a:solidFill>
            </a:endParaRPr>
          </a:p>
        </p:txBody>
      </p:sp>
      <p:sp>
        <p:nvSpPr>
          <p:cNvPr id="100108" name="SlideLabel"/>
          <p:cNvSpPr txBox="1"/>
          <p:nvPr/>
        </p:nvSpPr>
        <p:spPr>
          <a:xfrm xmlns:a="http://schemas.openxmlformats.org/drawingml/2006/main">
            <a:off x="720000" y="252000"/>
            <a:ext cx="7200000" cy="216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000" b="1">
                <a:solidFill>
                  <a:srgbClr val="58A6FF"/>
                </a:solidFill>
              </a:rPr>
              <a:t>ANALYTICS ENGINE — FEATURE 5</a:t>
            </a:r>
          </a:p>
        </p:txBody>
      </p:sp>
      <p:sp>
        <p:nvSpPr>
          <p:cNvPr id="100109" name="SlideNum"/>
          <p:cNvSpPr txBox="1"/>
          <p:nvPr/>
        </p:nvSpPr>
        <p:spPr>
          <a:xfrm xmlns:a="http://schemas.openxmlformats.org/drawingml/2006/main">
            <a:off x="10800000" y="6408000"/>
            <a:ext cx="1080000" cy="216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a:solidFill>
                  <a:srgbClr val="484F58"/>
                </a:solidFill>
              </a:rPr>
              <a:t>08</a:t>
            </a:r>
          </a:p>
        </p:txBody>
      </p:sp>
      <p:sp>
        <p:nvSpPr>
          <p:cNvPr id="100110" name="Title"/>
          <p:cNvSpPr txBox="1"/>
          <p:nvPr/>
        </p:nvSpPr>
        <p:spPr>
          <a:xfrm xmlns:a="http://schemas.openxmlformats.org/drawingml/2006/main">
            <a:off x="720000" y="540000"/>
            <a:ext cx="10080000" cy="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600" b="1">
                <a:solidFill>
                  <a:srgbClr val="E6EDF3"/>
                </a:solidFill>
              </a:rPr>
              <a:t>Price Forecasting Engine</a:t>
            </a:r>
          </a:p>
        </p:txBody>
      </p:sp>
      <p:sp>
        <p:nvSpPr>
          <p:cNvPr id="100111" name="Divider"/>
          <p:cNvSpPr txBox="1"/>
          <p:nvPr/>
        </p:nvSpPr>
        <p:spPr>
          <a:xfrm xmlns:a="http://schemas.openxmlformats.org/drawingml/2006/main">
            <a:off x="720000" y="1116000"/>
            <a:ext cx="10753200" cy="18000"/>
          </a:xfrm>
          <a:prstGeom xmlns:a="http://schemas.openxmlformats.org/drawingml/2006/main" prst="rect">
            <a:avLst/>
          </a:prstGeom>
          <a:solidFill xmlns:a="http://schemas.openxmlformats.org/drawingml/2006/main">
            <a:srgbClr val="21262D"/>
          </a:solidFill>
        </p:spPr>
        <p:txBody>
          <a:bodyPr xmlns:a="http://schemas.openxmlformats.org/drawingml/2006/main"/>
          <a:lstStyle xmlns:a="http://schemas.openxmlformats.org/drawingml/2006/main"/>
          <a:p xmlns:a="http://schemas.openxmlformats.org/drawingml/2006/main">
            <a:endParaRPr lang="en-US">
              <a:solidFill>
                <a:srgbClr val="21262D"/>
              </a:solidFill>
            </a:endParaRPr>
          </a:p>
        </p:txBody>
      </p:sp>
      <p:sp>
        <p:nvSpPr>
          <p:cNvPr id="100112" name="ProphetBox"/>
          <p:cNvSpPr txBox="1"/>
          <p:nvPr/>
        </p:nvSpPr>
        <p:spPr>
          <a:xfrm xmlns:a="http://schemas.openxmlformats.org/drawingml/2006/main">
            <a:off x="720000" y="1260000"/>
            <a:ext cx="5184000" cy="3420000"/>
          </a:xfrm>
          <a:prstGeom xmlns:a="http://schemas.openxmlformats.org/drawingml/2006/main" prst="rect">
            <a:avLst/>
          </a:prstGeom>
          <a:solidFill xmlns:a="http://schemas.openxmlformats.org/drawingml/2006/main">
            <a:srgbClr val="161B22"/>
          </a:solidFill>
        </p:spPr>
        <p:txBody>
          <a:bodyPr xmlns:a="http://schemas.openxmlformats.org/drawingml/2006/main"/>
          <a:lstStyle xmlns:a="http://schemas.openxmlformats.org/drawingml/2006/main"/>
          <a:p xmlns:a="http://schemas.openxmlformats.org/drawingml/2006/main">
            <a:endParaRPr lang="en-US">
              <a:solidFill>
                <a:srgbClr val="FFA657"/>
              </a:solidFill>
            </a:endParaRPr>
          </a:p>
        </p:txBody>
      </p:sp>
      <p:sp>
        <p:nvSpPr>
          <p:cNvPr id="100113" name="ProphetLabel"/>
          <p:cNvSpPr txBox="1"/>
          <p:nvPr/>
        </p:nvSpPr>
        <p:spPr>
          <a:xfrm xmlns:a="http://schemas.openxmlformats.org/drawingml/2006/main">
            <a:off x="900000" y="1368000"/>
            <a:ext cx="4680000" cy="216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000" b="1">
                <a:solidFill>
                  <a:srgbClr val="FFA657"/>
                </a:solidFill>
              </a:rPr>
              <a:t>PRIMARY:  FACEBOOK PROPHET</a:t>
            </a:r>
          </a:p>
        </p:txBody>
      </p:sp>
      <p:sp>
        <p:nvSpPr>
          <p:cNvPr id="100114" name="ProphetContent"/>
          <p:cNvSpPr txBox="1"/>
          <p:nvPr/>
        </p:nvSpPr>
        <p:spPr>
          <a:xfrm xmlns:a="http://schemas.openxmlformats.org/drawingml/2006/main">
            <a:off x="900000" y="1620000"/>
            <a:ext cx="4860000" cy="288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400">
                <a:solidFill>
                  <a:srgbClr val="C9D1D9"/>
                </a:solidFill>
              </a:rPr>
              <a:t>Model configuration:</a:t>
            </a:r>
          </a:p>
          <a:p xmlns:a="http://schemas.openxmlformats.org/drawingml/2006/main">
            <a:r>
              <a:rPr lang="en-US" sz="1400">
                <a:solidFill>
                  <a:srgbClr val="C9D1D9"/>
                </a:solidFill>
              </a:rPr>
              <a:t>  yearly_seasonality=True</a:t>
            </a:r>
          </a:p>
          <a:p xmlns:a="http://schemas.openxmlformats.org/drawingml/2006/main">
            <a:r>
              <a:rPr lang="en-US" sz="1400">
                <a:solidFill>
                  <a:srgbClr val="C9D1D9"/>
                </a:solidFill>
              </a:rPr>
              <a:t>  weekly_seasonality=False</a:t>
            </a:r>
          </a:p>
          <a:p xmlns:a="http://schemas.openxmlformats.org/drawingml/2006/main">
            <a:r>
              <a:rPr lang="en-US" sz="1400">
                <a:solidFill>
                  <a:srgbClr val="C9D1D9"/>
                </a:solidFill>
              </a:rPr>
              <a:t>  daily_seasonality=False</a:t>
            </a:r>
          </a:p>
          <a:p xmlns:a="http://schemas.openxmlformats.org/drawingml/2006/main">
            <a:r>
              <a:rPr lang="en-US" sz="1400">
                <a:solidFill>
                  <a:srgbClr val="C9D1D9"/>
                </a:solidFill>
              </a:rPr>
              <a:t>  seasonality_mode='multiplicative'</a:t>
            </a:r>
          </a:p>
          <a:p xmlns:a="http://schemas.openxmlformats.org/drawingml/2006/main">
            <a:r>
              <a:rPr lang="en-US" sz="1400">
                <a:solidFill>
                  <a:srgbClr val="C9D1D9"/>
                </a:solidFill>
              </a:rPr>
              <a:t>  interval_width=0.95</a:t>
            </a:r>
          </a:p>
          <a:p xmlns:a="http://schemas.openxmlformats.org/drawingml/2006/main">
            <a:r>
              <a:rPr lang="en-US" sz="1400">
                <a:solidFill>
                  <a:srgbClr val="C9D1D9"/>
                </a:solidFill>
              </a:rPr>
              <a:t>  changepoint_prior_scale=0.15</a:t>
            </a:r>
          </a:p>
          <a:p xmlns:a="http://schemas.openxmlformats.org/drawingml/2006/main">
            <a:r>
              <a:rPr lang="en-US" sz="1400">
                <a:solidFill>
                  <a:srgbClr val="C9D1D9"/>
                </a:solidFill>
              </a:rPr>
              <a:t/>
            </a:r>
          </a:p>
          <a:p xmlns:a="http://schemas.openxmlformats.org/drawingml/2006/main">
            <a:r>
              <a:rPr lang="en-US" sz="1400">
                <a:solidFill>
                  <a:srgbClr val="C9D1D9"/>
                </a:solidFill>
              </a:rPr>
              <a:t>Why multiplicative seasonality?</a:t>
            </a:r>
          </a:p>
          <a:p xmlns:a="http://schemas.openxmlformats.org/drawingml/2006/main">
            <a:r>
              <a:rPr lang="en-US" sz="1400">
                <a:solidFill>
                  <a:srgbClr val="C9D1D9"/>
                </a:solidFill>
              </a:rPr>
              <a:t>Grocery prices exhibit seasonal patterns that grow proportionally with the price level — multiplicative captures this better than additive.</a:t>
            </a:r>
          </a:p>
          <a:p xmlns:a="http://schemas.openxmlformats.org/drawingml/2006/main">
            <a:r>
              <a:rPr lang="en-US" sz="1400">
                <a:solidFill>
                  <a:srgbClr val="C9D1D9"/>
                </a:solidFill>
              </a:rPr>
              <a:t/>
            </a:r>
          </a:p>
          <a:p xmlns:a="http://schemas.openxmlformats.org/drawingml/2006/main">
            <a:r>
              <a:rPr lang="en-US" sz="1400">
                <a:solidFill>
                  <a:srgbClr val="C9D1D9"/>
                </a:solidFill>
              </a:rPr>
              <a:t>changepoint_prior_scale=0.15:</a:t>
            </a:r>
          </a:p>
          <a:p xmlns:a="http://schemas.openxmlformats.org/drawingml/2006/main">
            <a:r>
              <a:rPr lang="en-US" sz="1400">
                <a:solidFill>
                  <a:srgbClr val="C9D1D9"/>
                </a:solidFill>
              </a:rPr>
              <a:t>Higher flexibility for trend changes (supply shocks, COVID, etc.)</a:t>
            </a:r>
          </a:p>
          <a:p xmlns:a="http://schemas.openxmlformats.org/drawingml/2006/main">
            <a:r>
              <a:rPr lang="en-US" sz="1400">
                <a:solidFill>
                  <a:srgbClr val="C9D1D9"/>
                </a:solidFill>
              </a:rPr>
              <a:t/>
            </a:r>
          </a:p>
          <a:p xmlns:a="http://schemas.openxmlformats.org/drawingml/2006/main">
            <a:r>
              <a:rPr lang="en-US" sz="1400">
                <a:solidFill>
                  <a:srgbClr val="C9D1D9"/>
                </a:solidFill>
              </a:rPr>
              <a:t>Output:</a:t>
            </a:r>
          </a:p>
          <a:p xmlns:a="http://schemas.openxmlformats.org/drawingml/2006/main">
            <a:r>
              <a:rPr lang="en-US" sz="1400">
                <a:solidFill>
                  <a:srgbClr val="C9D1D9"/>
                </a:solidFill>
              </a:rPr>
              <a:t>  yhat  — point forecast</a:t>
            </a:r>
          </a:p>
          <a:p xmlns:a="http://schemas.openxmlformats.org/drawingml/2006/main">
            <a:r>
              <a:rPr lang="en-US" sz="1400">
                <a:solidFill>
                  <a:srgbClr val="C9D1D9"/>
                </a:solidFill>
              </a:rPr>
              <a:t>  yhat_lower / yhat_upper — 95% CI</a:t>
            </a:r>
          </a:p>
        </p:txBody>
      </p:sp>
      <p:sp>
        <p:nvSpPr>
          <p:cNvPr id="100115" name="FallbackBox"/>
          <p:cNvSpPr txBox="1"/>
          <p:nvPr/>
        </p:nvSpPr>
        <p:spPr>
          <a:xfrm xmlns:a="http://schemas.openxmlformats.org/drawingml/2006/main">
            <a:off x="6264000" y="1260000"/>
            <a:ext cx="5220000" cy="3420000"/>
          </a:xfrm>
          <a:prstGeom xmlns:a="http://schemas.openxmlformats.org/drawingml/2006/main" prst="rect">
            <a:avLst/>
          </a:prstGeom>
          <a:solidFill xmlns:a="http://schemas.openxmlformats.org/drawingml/2006/main">
            <a:srgbClr val="161B22"/>
          </a:solidFill>
        </p:spPr>
        <p:txBody>
          <a:bodyPr xmlns:a="http://schemas.openxmlformats.org/drawingml/2006/main"/>
          <a:lstStyle xmlns:a="http://schemas.openxmlformats.org/drawingml/2006/main"/>
          <a:p xmlns:a="http://schemas.openxmlformats.org/drawingml/2006/main">
            <a:endParaRPr lang="en-US">
              <a:solidFill>
                <a:srgbClr val="58A6FF"/>
              </a:solidFill>
            </a:endParaRPr>
          </a:p>
        </p:txBody>
      </p:sp>
      <p:sp>
        <p:nvSpPr>
          <p:cNvPr id="100116" name="FallbackLabel"/>
          <p:cNvSpPr txBox="1"/>
          <p:nvPr/>
        </p:nvSpPr>
        <p:spPr>
          <a:xfrm xmlns:a="http://schemas.openxmlformats.org/drawingml/2006/main">
            <a:off x="6444000" y="1368000"/>
            <a:ext cx="4680000" cy="216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000" b="1">
                <a:solidFill>
                  <a:srgbClr val="58A6FF"/>
                </a:solidFill>
              </a:rPr>
              <a:t>FALLBACK:  LINEAR REGRESSION</a:t>
            </a:r>
          </a:p>
        </p:txBody>
      </p:sp>
      <p:sp>
        <p:nvSpPr>
          <p:cNvPr id="100117" name="FallbackContent"/>
          <p:cNvSpPr txBox="1"/>
          <p:nvPr/>
        </p:nvSpPr>
        <p:spPr>
          <a:xfrm xmlns:a="http://schemas.openxmlformats.org/drawingml/2006/main">
            <a:off x="6444000" y="1620000"/>
            <a:ext cx="4860000" cy="288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400">
                <a:solidFill>
                  <a:srgbClr val="C9D1D9"/>
                </a:solidFill>
              </a:rPr>
              <a:t>Used when Prophet is not installed.</a:t>
            </a:r>
          </a:p>
          <a:p xmlns:a="http://schemas.openxmlformats.org/drawingml/2006/main">
            <a:r>
              <a:rPr lang="en-US" sz="1400">
                <a:solidFill>
                  <a:srgbClr val="C9D1D9"/>
                </a:solidFill>
              </a:rPr>
              <a:t/>
            </a:r>
          </a:p>
          <a:p xmlns:a="http://schemas.openxmlformats.org/drawingml/2006/main">
            <a:r>
              <a:rPr lang="en-US" sz="1400">
                <a:solidFill>
                  <a:srgbClr val="C9D1D9"/>
                </a:solidFill>
              </a:rPr>
              <a:t>Implementation:</a:t>
            </a:r>
          </a:p>
          <a:p xmlns:a="http://schemas.openxmlformats.org/drawingml/2006/main">
            <a:r>
              <a:rPr lang="en-US" sz="1400">
                <a:solidFill>
                  <a:srgbClr val="C9D1D9"/>
                </a:solidFill>
              </a:rPr>
              <a:t>  _linear_forecast(series, months_ahead)</a:t>
            </a:r>
          </a:p>
          <a:p xmlns:a="http://schemas.openxmlformats.org/drawingml/2006/main">
            <a:r>
              <a:rPr lang="en-US" sz="1400">
                <a:solidFill>
                  <a:srgbClr val="C9D1D9"/>
                </a:solidFill>
              </a:rPr>
              <a:t/>
            </a:r>
          </a:p>
          <a:p xmlns:a="http://schemas.openxmlformats.org/drawingml/2006/main">
            <a:r>
              <a:rPr lang="en-US" sz="1400">
                <a:solidFill>
                  <a:srgbClr val="C9D1D9"/>
                </a:solidFill>
              </a:rPr>
              <a:t>  X = integer month index (0, 1, 2 … n)</a:t>
            </a:r>
          </a:p>
          <a:p xmlns:a="http://schemas.openxmlformats.org/drawingml/2006/main">
            <a:r>
              <a:rPr lang="en-US" sz="1400">
                <a:solidFill>
                  <a:srgbClr val="C9D1D9"/>
                </a:solidFill>
              </a:rPr>
              <a:t>  y = historical prices</a:t>
            </a:r>
          </a:p>
          <a:p xmlns:a="http://schemas.openxmlformats.org/drawingml/2006/main">
            <a:r>
              <a:rPr lang="en-US" sz="1400">
                <a:solidFill>
                  <a:srgbClr val="C9D1D9"/>
                </a:solidFill>
              </a:rPr>
              <a:t>  sklearn LinearRegression().fit(X, y)</a:t>
            </a:r>
          </a:p>
          <a:p xmlns:a="http://schemas.openxmlformats.org/drawingml/2006/main">
            <a:r>
              <a:rPr lang="en-US" sz="1400">
                <a:solidFill>
                  <a:srgbClr val="C9D1D9"/>
                </a:solidFill>
              </a:rPr>
              <a:t>  Future X = [n, n+1 … n+months_ahead]</a:t>
            </a:r>
          </a:p>
          <a:p xmlns:a="http://schemas.openxmlformats.org/drawingml/2006/main">
            <a:r>
              <a:rPr lang="en-US" sz="1400">
                <a:solidFill>
                  <a:srgbClr val="C9D1D9"/>
                </a:solidFill>
              </a:rPr>
              <a:t/>
            </a:r>
          </a:p>
          <a:p xmlns:a="http://schemas.openxmlformats.org/drawingml/2006/main">
            <a:r>
              <a:rPr lang="en-US" sz="1400">
                <a:solidFill>
                  <a:srgbClr val="C9D1D9"/>
                </a:solidFill>
              </a:rPr>
              <a:t>Confidence interval:</a:t>
            </a:r>
          </a:p>
          <a:p xmlns:a="http://schemas.openxmlformats.org/drawingml/2006/main">
            <a:r>
              <a:rPr lang="en-US" sz="1400">
                <a:solidFill>
                  <a:srgbClr val="C9D1D9"/>
                </a:solidFill>
              </a:rPr>
              <a:t>  sigma = std(residuals)</a:t>
            </a:r>
          </a:p>
          <a:p xmlns:a="http://schemas.openxmlformats.org/drawingml/2006/main">
            <a:r>
              <a:rPr lang="en-US" sz="1400">
                <a:solidFill>
                  <a:srgbClr val="C9D1D9"/>
                </a:solidFill>
              </a:rPr>
              <a:t>  lower = yhat - 1.96 * sigma</a:t>
            </a:r>
          </a:p>
          <a:p xmlns:a="http://schemas.openxmlformats.org/drawingml/2006/main">
            <a:r>
              <a:rPr lang="en-US" sz="1400">
                <a:solidFill>
                  <a:srgbClr val="C9D1D9"/>
                </a:solidFill>
              </a:rPr>
              <a:t>  upper = yhat + 1.96 * sigma</a:t>
            </a:r>
          </a:p>
          <a:p xmlns:a="http://schemas.openxmlformats.org/drawingml/2006/main">
            <a:r>
              <a:rPr lang="en-US" sz="1400">
                <a:solidFill>
                  <a:srgbClr val="C9D1D9"/>
                </a:solidFill>
              </a:rPr>
              <a:t/>
            </a:r>
          </a:p>
          <a:p xmlns:a="http://schemas.openxmlformats.org/drawingml/2006/main">
            <a:r>
              <a:rPr lang="en-US" sz="1400">
                <a:solidFill>
                  <a:srgbClr val="C9D1D9"/>
                </a:solidFill>
              </a:rPr>
              <a:t>Merge:</a:t>
            </a:r>
          </a:p>
          <a:p xmlns:a="http://schemas.openxmlformats.org/drawingml/2006/main">
            <a:r>
              <a:rPr lang="en-US" sz="1400">
                <a:solidFill>
                  <a:srgbClr val="C9D1D9"/>
                </a:solidFill>
              </a:rPr>
              <a:t>Historical + forecast rows concatenated with a 'source' column: 'historical' | 'forecast'</a:t>
            </a:r>
          </a:p>
          <a:p xmlns:a="http://schemas.openxmlformats.org/drawingml/2006/main">
            <a:r>
              <a:rPr lang="en-US" sz="1400">
                <a:solidFill>
                  <a:srgbClr val="C9D1D9"/>
                </a:solidFill>
              </a:rPr>
              <a:t>Vertical divider line marks forecast start in chart.</a:t>
            </a:r>
          </a:p>
        </p:txBody>
      </p:sp>
      <p:sp>
        <p:nvSpPr>
          <p:cNvPr id="100118" name="OutputBox"/>
          <p:cNvSpPr txBox="1"/>
          <p:nvPr/>
        </p:nvSpPr>
        <p:spPr>
          <a:xfrm xmlns:a="http://schemas.openxmlformats.org/drawingml/2006/main">
            <a:off x="720000" y="4752000"/>
            <a:ext cx="10753200" cy="1368000"/>
          </a:xfrm>
          <a:prstGeom xmlns:a="http://schemas.openxmlformats.org/drawingml/2006/main" prst="rect">
            <a:avLst/>
          </a:prstGeom>
          <a:solidFill xmlns:a="http://schemas.openxmlformats.org/drawingml/2006/main">
            <a:srgbClr val="161B22"/>
          </a:solidFill>
        </p:spPr>
        <p:txBody>
          <a:bodyPr xmlns:a="http://schemas.openxmlformats.org/drawingml/2006/main"/>
          <a:lstStyle xmlns:a="http://schemas.openxmlformats.org/drawingml/2006/main"/>
          <a:p xmlns:a="http://schemas.openxmlformats.org/drawingml/2006/main">
            <a:endParaRPr lang="en-US">
              <a:solidFill>
                <a:srgbClr val="3FB950"/>
              </a:solidFill>
            </a:endParaRPr>
          </a:p>
        </p:txBody>
      </p:sp>
      <p:sp>
        <p:nvSpPr>
          <p:cNvPr id="100119" name="OutputLabel"/>
          <p:cNvSpPr txBox="1"/>
          <p:nvPr/>
        </p:nvSpPr>
        <p:spPr>
          <a:xfrm xmlns:a="http://schemas.openxmlformats.org/drawingml/2006/main">
            <a:off x="900000" y="4860000"/>
            <a:ext cx="4320000" cy="216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000" b="1">
                <a:solidFill>
                  <a:srgbClr val="3FB950"/>
                </a:solidFill>
              </a:rPr>
              <a:t>OUTPUT &amp; VISUALIZATION</a:t>
            </a:r>
          </a:p>
        </p:txBody>
      </p:sp>
      <p:sp>
        <p:nvSpPr>
          <p:cNvPr id="100120" name="OutputContent"/>
          <p:cNvSpPr txBox="1"/>
          <p:nvPr/>
        </p:nvSpPr>
        <p:spPr>
          <a:xfrm xmlns:a="http://schemas.openxmlformats.org/drawingml/2006/main">
            <a:off x="900000" y="5112000"/>
            <a:ext cx="10440000" cy="90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400">
                <a:solidFill>
                  <a:srgbClr val="C9D1D9"/>
                </a:solidFill>
              </a:rPr>
              <a:t>Forecast chart: Historical line (solid) + Forecast line (dashed) + 95% CI shading + vertical boundary marker</a:t>
            </a:r>
          </a:p>
          <a:p xmlns:a="http://schemas.openxmlformats.org/drawingml/2006/main">
            <a:r>
              <a:rPr lang="en-US" sz="1400">
                <a:solidFill>
                  <a:srgbClr val="C9D1D9"/>
                </a:solidFill>
              </a:rPr>
              <a:t>Annual snapshot table: Mean forecast + lower/upper CI per year  (e.g. 2024, 2025, 2026)</a:t>
            </a:r>
          </a:p>
          <a:p xmlns:a="http://schemas.openxmlformats.org/drawingml/2006/main">
            <a:r>
              <a:rPr lang="en-US" sz="1400">
                <a:solidFill>
                  <a:srgbClr val="C9D1D9"/>
                </a:solidFill>
              </a:rPr>
              <a:t>Multi-item comparison: Up to 5 items forecast simultaneously on a single chart</a:t>
            </a:r>
          </a:p>
          <a:p xmlns:a="http://schemas.openxmlformats.org/drawingml/2006/main">
            <a:r>
              <a:rPr lang="en-US" sz="1400">
                <a:solidFill>
                  <a:srgbClr val="C9D1D9"/>
                </a:solidFill>
              </a:rPr>
              <a:t>User-configurable: 6–60 months ahead via sidebar slider</a:t>
            </a:r>
          </a:p>
        </p:txBody>
      </p:sp>
    </p:spTree>
  </p:cSld>
</p:sld>
</file>

<file path=ppt/slides/slide9.xml><?xml version="1.0" encoding="utf-8"?>
<p:sld xmlns:a="http://schemas.openxmlformats.org/drawingml/2006/main" xmlns:p="http://schemas.openxmlformats.org/presentationml/2006/main">
  <p:cSld>
    <p:bg>
      <p:bgPr>
        <a:solidFill xmlns:a="http://schemas.openxmlformats.org/drawingml/2006/main">
          <a:srgbClr val="0D1117"/>
        </a:solidFill>
      </p:bgPr>
    </p:bg>
    <p:spTree>
      <p:nvGrpSpPr>
        <p:cNvPr id="1" name=""/>
        <p:cNvGrpSpPr/>
        <p:nvPr/>
      </p:nvGrpSpPr>
      <p:grpSpPr/>
      <p:sp>
        <p:nvSpPr>
          <p:cNvPr id="100121" name="TopBar"/>
          <p:cNvSpPr txBox="1"/>
          <p:nvPr/>
        </p:nvSpPr>
        <p:spPr>
          <a:xfrm xmlns:a="http://schemas.openxmlformats.org/drawingml/2006/main">
            <a:off x="0" y="0"/>
            <a:ext cx="12193200" cy="126000"/>
          </a:xfrm>
          <a:prstGeom xmlns:a="http://schemas.openxmlformats.org/drawingml/2006/main" prst="rect">
            <a:avLst/>
          </a:prstGeom>
          <a:solidFill xmlns:a="http://schemas.openxmlformats.org/drawingml/2006/main">
            <a:srgbClr val="1F6FEB"/>
          </a:solidFill>
        </p:spPr>
        <p:txBody>
          <a:bodyPr xmlns:a="http://schemas.openxmlformats.org/drawingml/2006/main"/>
          <a:lstStyle xmlns:a="http://schemas.openxmlformats.org/drawingml/2006/main"/>
          <a:p xmlns:a="http://schemas.openxmlformats.org/drawingml/2006/main">
            <a:endParaRPr lang="en-US">
              <a:solidFill>
                <a:srgbClr val="1F6FEB"/>
              </a:solidFill>
            </a:endParaRPr>
          </a:p>
        </p:txBody>
      </p:sp>
      <p:sp>
        <p:nvSpPr>
          <p:cNvPr id="100122" name="SlideLabel"/>
          <p:cNvSpPr txBox="1"/>
          <p:nvPr/>
        </p:nvSpPr>
        <p:spPr>
          <a:xfrm xmlns:a="http://schemas.openxmlformats.org/drawingml/2006/main">
            <a:off x="720000" y="252000"/>
            <a:ext cx="7200000" cy="216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000" b="1">
                <a:solidFill>
                  <a:srgbClr val="58A6FF"/>
                </a:solidFill>
              </a:rPr>
              <a:t>FRONTEND UI — KPI CARDS &amp; CHARTS</a:t>
            </a:r>
          </a:p>
        </p:txBody>
      </p:sp>
      <p:sp>
        <p:nvSpPr>
          <p:cNvPr id="100123" name="SlideNum"/>
          <p:cNvSpPr txBox="1"/>
          <p:nvPr/>
        </p:nvSpPr>
        <p:spPr>
          <a:xfrm xmlns:a="http://schemas.openxmlformats.org/drawingml/2006/main">
            <a:off x="10800000" y="6408000"/>
            <a:ext cx="1080000" cy="216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a:solidFill>
                  <a:srgbClr val="484F58"/>
                </a:solidFill>
              </a:rPr>
              <a:t>09</a:t>
            </a:r>
          </a:p>
        </p:txBody>
      </p:sp>
      <p:sp>
        <p:nvSpPr>
          <p:cNvPr id="100124" name="Title"/>
          <p:cNvSpPr txBox="1"/>
          <p:nvPr/>
        </p:nvSpPr>
        <p:spPr>
          <a:xfrm xmlns:a="http://schemas.openxmlformats.org/drawingml/2006/main">
            <a:off x="720000" y="540000"/>
            <a:ext cx="10080000" cy="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600" b="1">
                <a:solidFill>
                  <a:srgbClr val="E6EDF3"/>
                </a:solidFill>
              </a:rPr>
              <a:t>Interactive UI — KPI Cards &amp; Charts</a:t>
            </a:r>
          </a:p>
        </p:txBody>
      </p:sp>
      <p:sp>
        <p:nvSpPr>
          <p:cNvPr id="100125" name="Divider"/>
          <p:cNvSpPr txBox="1"/>
          <p:nvPr/>
        </p:nvSpPr>
        <p:spPr>
          <a:xfrm xmlns:a="http://schemas.openxmlformats.org/drawingml/2006/main">
            <a:off x="720000" y="1116000"/>
            <a:ext cx="10753200" cy="18000"/>
          </a:xfrm>
          <a:prstGeom xmlns:a="http://schemas.openxmlformats.org/drawingml/2006/main" prst="rect">
            <a:avLst/>
          </a:prstGeom>
          <a:solidFill xmlns:a="http://schemas.openxmlformats.org/drawingml/2006/main">
            <a:srgbClr val="21262D"/>
          </a:solidFill>
        </p:spPr>
        <p:txBody>
          <a:bodyPr xmlns:a="http://schemas.openxmlformats.org/drawingml/2006/main"/>
          <a:lstStyle xmlns:a="http://schemas.openxmlformats.org/drawingml/2006/main"/>
          <a:p xmlns:a="http://schemas.openxmlformats.org/drawingml/2006/main">
            <a:endParaRPr lang="en-US">
              <a:solidFill>
                <a:srgbClr val="21262D"/>
              </a:solidFill>
            </a:endParaRPr>
          </a:p>
        </p:txBody>
      </p:sp>
      <p:sp>
        <p:nvSpPr>
          <p:cNvPr id="100126" name="KPIHeader"/>
          <p:cNvSpPr txBox="1"/>
          <p:nvPr/>
        </p:nvSpPr>
        <p:spPr>
          <a:xfrm xmlns:a="http://schemas.openxmlformats.org/drawingml/2006/main">
            <a:off x="720000" y="1224000"/>
            <a:ext cx="10753200" cy="216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b="1">
                <a:solidFill>
                  <a:srgbClr val="8B949E"/>
                </a:solidFill>
              </a:rPr>
              <a:t>KPI METRIC CARDS  (5 cards across the top)</a:t>
            </a:r>
          </a:p>
        </p:txBody>
      </p:sp>
      <p:sp>
        <p:nvSpPr>
          <p:cNvPr id="100127" name="KPI1"/>
          <p:cNvSpPr txBox="1"/>
          <p:nvPr/>
        </p:nvSpPr>
        <p:spPr>
          <a:xfrm xmlns:a="http://schemas.openxmlformats.org/drawingml/2006/main">
            <a:off x="720000" y="1476000"/>
            <a:ext cx="1980000" cy="900000"/>
          </a:xfrm>
          <a:prstGeom xmlns:a="http://schemas.openxmlformats.org/drawingml/2006/main" prst="rect">
            <a:avLst/>
          </a:prstGeom>
          <a:solidFill xmlns:a="http://schemas.openxmlformats.org/drawingml/2006/main">
            <a:srgbClr val="161B22"/>
          </a:solidFill>
        </p:spPr>
        <p:txBody>
          <a:bodyPr xmlns:a="http://schemas.openxmlformats.org/drawingml/2006/main"/>
          <a:lstStyle xmlns:a="http://schemas.openxmlformats.org/drawingml/2006/main"/>
          <a:p xmlns:a="http://schemas.openxmlformats.org/drawingml/2006/main">
            <a:r>
              <a:rPr lang="en-US" sz="1400" b="0">
                <a:solidFill>
                  <a:srgbClr val="E6EDF3"/>
                </a:solidFill>
              </a:rPr>
              <a:t>LATEST PRICE</a:t>
            </a:r>
          </a:p>
          <a:p xmlns:a="http://schemas.openxmlformats.org/drawingml/2006/main">
            <a:r>
              <a:rPr lang="en-US" sz="1400" b="0">
                <a:solidFill>
                  <a:srgbClr val="E6EDF3"/>
                </a:solidFill>
              </a:rPr>
              <a:t>$3.271</a:t>
            </a:r>
          </a:p>
          <a:p xmlns:a="http://schemas.openxmlformats.org/drawingml/2006/main">
            <a:r>
              <a:rPr lang="en-US" sz="1400" b="0">
                <a:solidFill>
                  <a:srgbClr val="E6EDF3"/>
                </a:solidFill>
              </a:rPr>
              <a:t>Dec 2024</a:t>
            </a:r>
          </a:p>
        </p:txBody>
      </p:sp>
      <p:sp>
        <p:nvSpPr>
          <p:cNvPr id="100128" name="KPI2"/>
          <p:cNvSpPr txBox="1"/>
          <p:nvPr/>
        </p:nvSpPr>
        <p:spPr>
          <a:xfrm xmlns:a="http://schemas.openxmlformats.org/drawingml/2006/main">
            <a:off x="2916000" y="1476000"/>
            <a:ext cx="1980000" cy="900000"/>
          </a:xfrm>
          <a:prstGeom xmlns:a="http://schemas.openxmlformats.org/drawingml/2006/main" prst="rect">
            <a:avLst/>
          </a:prstGeom>
          <a:solidFill xmlns:a="http://schemas.openxmlformats.org/drawingml/2006/main">
            <a:srgbClr val="161B22"/>
          </a:solidFill>
        </p:spPr>
        <p:txBody>
          <a:bodyPr xmlns:a="http://schemas.openxmlformats.org/drawingml/2006/main"/>
          <a:lstStyle xmlns:a="http://schemas.openxmlformats.org/drawingml/2006/main"/>
          <a:p xmlns:a="http://schemas.openxmlformats.org/drawingml/2006/main">
            <a:r>
              <a:rPr lang="en-US" sz="1400" b="0">
                <a:solidFill>
                  <a:srgbClr val="E6EDF3"/>
                </a:solidFill>
              </a:rPr>
              <a:t>ALL-TIME PEAK</a:t>
            </a:r>
          </a:p>
          <a:p xmlns:a="http://schemas.openxmlformats.org/drawingml/2006/main">
            <a:r>
              <a:rPr lang="en-US" sz="1400" b="0">
                <a:solidFill>
                  <a:srgbClr val="E6EDF3"/>
                </a:solidFill>
              </a:rPr>
              <a:t>$5.014</a:t>
            </a:r>
          </a:p>
          <a:p xmlns:a="http://schemas.openxmlformats.org/drawingml/2006/main">
            <a:r>
              <a:rPr lang="en-US" sz="1400" b="0">
                <a:solidFill>
                  <a:srgbClr val="E6EDF3"/>
                </a:solidFill>
              </a:rPr>
              <a:t>Reached Jun 2022</a:t>
            </a:r>
          </a:p>
        </p:txBody>
      </p:sp>
      <p:sp>
        <p:nvSpPr>
          <p:cNvPr id="100129" name="KPI3"/>
          <p:cNvSpPr txBox="1"/>
          <p:nvPr/>
        </p:nvSpPr>
        <p:spPr>
          <a:xfrm xmlns:a="http://schemas.openxmlformats.org/drawingml/2006/main">
            <a:off x="5112000" y="1476000"/>
            <a:ext cx="1980000" cy="900000"/>
          </a:xfrm>
          <a:prstGeom xmlns:a="http://schemas.openxmlformats.org/drawingml/2006/main" prst="rect">
            <a:avLst/>
          </a:prstGeom>
          <a:solidFill xmlns:a="http://schemas.openxmlformats.org/drawingml/2006/main">
            <a:srgbClr val="161B22"/>
          </a:solidFill>
        </p:spPr>
        <p:txBody>
          <a:bodyPr xmlns:a="http://schemas.openxmlformats.org/drawingml/2006/main"/>
          <a:lstStyle xmlns:a="http://schemas.openxmlformats.org/drawingml/2006/main"/>
          <a:p xmlns:a="http://schemas.openxmlformats.org/drawingml/2006/main">
            <a:r>
              <a:rPr lang="en-US" sz="1400" b="0">
                <a:solidFill>
                  <a:srgbClr val="E6EDF3"/>
                </a:solidFill>
              </a:rPr>
              <a:t>ALL-TIME LOW</a:t>
            </a:r>
          </a:p>
          <a:p xmlns:a="http://schemas.openxmlformats.org/drawingml/2006/main">
            <a:r>
              <a:rPr lang="en-US" sz="1400" b="0">
                <a:solidFill>
                  <a:srgbClr val="E6EDF3"/>
                </a:solidFill>
              </a:rPr>
              <a:t>$1.843</a:t>
            </a:r>
          </a:p>
          <a:p xmlns:a="http://schemas.openxmlformats.org/drawingml/2006/main">
            <a:r>
              <a:rPr lang="en-US" sz="1400" b="0">
                <a:solidFill>
                  <a:srgbClr val="E6EDF3"/>
                </a:solidFill>
              </a:rPr>
              <a:t>Reached Apr 2020</a:t>
            </a:r>
          </a:p>
        </p:txBody>
      </p:sp>
      <p:sp>
        <p:nvSpPr>
          <p:cNvPr id="100130" name="KPI4"/>
          <p:cNvSpPr txBox="1"/>
          <p:nvPr/>
        </p:nvSpPr>
        <p:spPr>
          <a:xfrm xmlns:a="http://schemas.openxmlformats.org/drawingml/2006/main">
            <a:off x="7308000" y="1476000"/>
            <a:ext cx="1980000" cy="900000"/>
          </a:xfrm>
          <a:prstGeom xmlns:a="http://schemas.openxmlformats.org/drawingml/2006/main" prst="rect">
            <a:avLst/>
          </a:prstGeom>
          <a:solidFill xmlns:a="http://schemas.openxmlformats.org/drawingml/2006/main">
            <a:srgbClr val="161B22"/>
          </a:solidFill>
        </p:spPr>
        <p:txBody>
          <a:bodyPr xmlns:a="http://schemas.openxmlformats.org/drawingml/2006/main"/>
          <a:lstStyle xmlns:a="http://schemas.openxmlformats.org/drawingml/2006/main"/>
          <a:p xmlns:a="http://schemas.openxmlformats.org/drawingml/2006/main">
            <a:r>
              <a:rPr lang="en-US" sz="1400" b="0">
                <a:solidFill>
                  <a:srgbClr val="E6EDF3"/>
                </a:solidFill>
              </a:rPr>
              <a:t>PERIOD CHANGE</a:t>
            </a:r>
          </a:p>
          <a:p xmlns:a="http://schemas.openxmlformats.org/drawingml/2006/main">
            <a:r>
              <a:rPr lang="en-US" sz="1400" b="0">
                <a:solidFill>
                  <a:srgbClr val="E6EDF3"/>
                </a:solidFill>
              </a:rPr>
              <a:t>+77.4%</a:t>
            </a:r>
          </a:p>
          <a:p xmlns:a="http://schemas.openxmlformats.org/drawingml/2006/main">
            <a:r>
              <a:rPr lang="en-US" sz="1400" b="0">
                <a:solidFill>
                  <a:srgbClr val="E6EDF3"/>
                </a:solidFill>
              </a:rPr>
              <a:t>▲ From $1.842 → $3.27</a:t>
            </a:r>
          </a:p>
        </p:txBody>
      </p:sp>
      <p:sp>
        <p:nvSpPr>
          <p:cNvPr id="100131" name="KPI5"/>
          <p:cNvSpPr txBox="1"/>
          <p:nvPr/>
        </p:nvSpPr>
        <p:spPr>
          <a:xfrm xmlns:a="http://schemas.openxmlformats.org/drawingml/2006/main">
            <a:off x="9504000" y="1476000"/>
            <a:ext cx="1969200" cy="900000"/>
          </a:xfrm>
          <a:prstGeom xmlns:a="http://schemas.openxmlformats.org/drawingml/2006/main" prst="rect">
            <a:avLst/>
          </a:prstGeom>
          <a:solidFill xmlns:a="http://schemas.openxmlformats.org/drawingml/2006/main">
            <a:srgbClr val="161B22"/>
          </a:solidFill>
        </p:spPr>
        <p:txBody>
          <a:bodyPr xmlns:a="http://schemas.openxmlformats.org/drawingml/2006/main"/>
          <a:lstStyle xmlns:a="http://schemas.openxmlformats.org/drawingml/2006/main"/>
          <a:p xmlns:a="http://schemas.openxmlformats.org/drawingml/2006/main">
            <a:r>
              <a:rPr lang="en-US" sz="1400" b="0">
                <a:solidFill>
                  <a:srgbClr val="E6EDF3"/>
                </a:solidFill>
              </a:rPr>
              <a:t>VOLATILITY</a:t>
            </a:r>
          </a:p>
          <a:p xmlns:a="http://schemas.openxmlformats.org/drawingml/2006/main">
            <a:r>
              <a:rPr lang="en-US" sz="1400" b="0">
                <a:solidFill>
                  <a:srgbClr val="E6EDF3"/>
                </a:solidFill>
              </a:rPr>
              <a:t>0.7481</a:t>
            </a:r>
          </a:p>
          <a:p xmlns:a="http://schemas.openxmlformats.org/drawingml/2006/main">
            <a:r>
              <a:rPr lang="en-US" sz="1400" b="0">
                <a:solidFill>
                  <a:srgbClr val="E6EDF3"/>
                </a:solidFill>
              </a:rPr>
              <a:t>High σ (std dev of prices)</a:t>
            </a:r>
          </a:p>
        </p:txBody>
      </p:sp>
      <p:sp>
        <p:nvSpPr>
          <p:cNvPr id="100132" name="KPINote"/>
          <p:cNvSpPr txBox="1"/>
          <p:nvPr/>
        </p:nvSpPr>
        <p:spPr>
          <a:xfrm xmlns:a="http://schemas.openxmlformats.org/drawingml/2006/main">
            <a:off x="720000" y="2448000"/>
            <a:ext cx="10753200" cy="25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a:solidFill>
                  <a:srgbClr val="8B949E"/>
                </a:solidFill>
              </a:rPr>
              <a:t>Each card has a coloured top accent bar (blue / red / green / purple / gold) and dynamically updates when the user selects a different item.</a:t>
            </a:r>
          </a:p>
        </p:txBody>
      </p:sp>
      <p:sp>
        <p:nvSpPr>
          <p:cNvPr id="100133" name="ChartsHeader"/>
          <p:cNvSpPr txBox="1"/>
          <p:nvPr/>
        </p:nvSpPr>
        <p:spPr>
          <a:xfrm xmlns:a="http://schemas.openxmlformats.org/drawingml/2006/main">
            <a:off x="720000" y="2772000"/>
            <a:ext cx="10753200" cy="216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b="1">
                <a:solidFill>
                  <a:srgbClr val="8B949E"/>
                </a:solidFill>
              </a:rPr>
              <a:t>PLOTLY INTERACTIVE CHARTS  (Tab 1: Price Trends)</a:t>
            </a:r>
          </a:p>
        </p:txBody>
      </p:sp>
      <p:sp>
        <p:nvSpPr>
          <p:cNvPr id="100134" name="Chart1Box"/>
          <p:cNvSpPr txBox="1"/>
          <p:nvPr/>
        </p:nvSpPr>
        <p:spPr>
          <a:xfrm xmlns:a="http://schemas.openxmlformats.org/drawingml/2006/main">
            <a:off x="720000" y="3060000"/>
            <a:ext cx="3420000" cy="2520000"/>
          </a:xfrm>
          <a:prstGeom xmlns:a="http://schemas.openxmlformats.org/drawingml/2006/main" prst="rect">
            <a:avLst/>
          </a:prstGeom>
          <a:solidFill xmlns:a="http://schemas.openxmlformats.org/drawingml/2006/main">
            <a:srgbClr val="161B22"/>
          </a:solidFill>
        </p:spPr>
        <p:txBody>
          <a:bodyPr xmlns:a="http://schemas.openxmlformats.org/drawingml/2006/main"/>
          <a:lstStyle xmlns:a="http://schemas.openxmlformats.org/drawingml/2006/main"/>
          <a:p xmlns:a="http://schemas.openxmlformats.org/drawingml/2006/main">
            <a:endParaRPr lang="en-US">
              <a:solidFill>
                <a:srgbClr val="58A6FF"/>
              </a:solidFill>
            </a:endParaRPr>
          </a:p>
        </p:txBody>
      </p:sp>
      <p:sp>
        <p:nvSpPr>
          <p:cNvPr id="100135" name="Chart1Title"/>
          <p:cNvSpPr txBox="1"/>
          <p:nvPr/>
        </p:nvSpPr>
        <p:spPr>
          <a:xfrm xmlns:a="http://schemas.openxmlformats.org/drawingml/2006/main">
            <a:off x="828000" y="3168000"/>
            <a:ext cx="3240000" cy="25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400" b="1">
                <a:solidFill>
                  <a:srgbClr val="58A6FF"/>
                </a:solidFill>
              </a:rPr>
              <a:t>Price History Line Chart</a:t>
            </a:r>
          </a:p>
        </p:txBody>
      </p:sp>
      <p:sp>
        <p:nvSpPr>
          <p:cNvPr id="100136" name="Chart1Body"/>
          <p:cNvSpPr txBox="1"/>
          <p:nvPr/>
        </p:nvSpPr>
        <p:spPr>
          <a:xfrm xmlns:a="http://schemas.openxmlformats.org/drawingml/2006/main">
            <a:off x="828000" y="3492000"/>
            <a:ext cx="3240000" cy="198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a:solidFill>
                  <a:srgbClr val="C9D1D9"/>
                </a:solidFill>
              </a:rPr>
              <a:t>• Dual y-axis: grocery (left) + gasoline (right)</a:t>
            </a:r>
          </a:p>
          <a:p xmlns:a="http://schemas.openxmlformats.org/drawingml/2006/main">
            <a:r>
              <a:rPr lang="en-US" sz="1300">
                <a:solidFill>
                  <a:srgbClr val="C9D1D9"/>
                </a:solidFill>
              </a:rPr>
              <a:t>• Fill-to-zero area shading</a:t>
            </a:r>
          </a:p>
          <a:p xmlns:a="http://schemas.openxmlformats.org/drawingml/2006/main">
            <a:r>
              <a:rPr lang="en-US" sz="1300">
                <a:solidFill>
                  <a:srgbClr val="C9D1D9"/>
                </a:solidFill>
              </a:rPr>
              <a:t>• Raw dotted underlay when trend mode is on</a:t>
            </a:r>
          </a:p>
          <a:p xmlns:a="http://schemas.openxmlformats.org/drawingml/2006/main">
            <a:r>
              <a:rPr lang="en-US" sz="1300">
                <a:solidFill>
                  <a:srgbClr val="C9D1D9"/>
                </a:solidFill>
              </a:rPr>
              <a:t>• Unified hover tooltip</a:t>
            </a:r>
          </a:p>
          <a:p xmlns:a="http://schemas.openxmlformats.org/drawingml/2006/main">
            <a:r>
              <a:rPr lang="en-US" sz="1300">
                <a:solidFill>
                  <a:srgbClr val="C9D1D9"/>
                </a:solidFill>
              </a:rPr>
              <a:t>• Dark Plotly template (#0d1117 bg)</a:t>
            </a:r>
          </a:p>
          <a:p xmlns:a="http://schemas.openxmlformats.org/drawingml/2006/main">
            <a:r>
              <a:rPr lang="en-US" sz="1300">
                <a:solidFill>
                  <a:srgbClr val="C9D1D9"/>
                </a:solidFill>
              </a:rPr>
              <a:t>• Fully interactive: zoom, pan, save PNG</a:t>
            </a:r>
          </a:p>
        </p:txBody>
      </p:sp>
      <p:sp>
        <p:nvSpPr>
          <p:cNvPr id="100137" name="Chart2Box"/>
          <p:cNvSpPr txBox="1"/>
          <p:nvPr/>
        </p:nvSpPr>
        <p:spPr>
          <a:xfrm xmlns:a="http://schemas.openxmlformats.org/drawingml/2006/main">
            <a:off x="4428000" y="3060000"/>
            <a:ext cx="3420000" cy="2520000"/>
          </a:xfrm>
          <a:prstGeom xmlns:a="http://schemas.openxmlformats.org/drawingml/2006/main" prst="rect">
            <a:avLst/>
          </a:prstGeom>
          <a:solidFill xmlns:a="http://schemas.openxmlformats.org/drawingml/2006/main">
            <a:srgbClr val="161B22"/>
          </a:solidFill>
        </p:spPr>
        <p:txBody>
          <a:bodyPr xmlns:a="http://schemas.openxmlformats.org/drawingml/2006/main"/>
          <a:lstStyle xmlns:a="http://schemas.openxmlformats.org/drawingml/2006/main"/>
          <a:p xmlns:a="http://schemas.openxmlformats.org/drawingml/2006/main">
            <a:endParaRPr lang="en-US">
              <a:solidFill>
                <a:srgbClr val="3FB950"/>
              </a:solidFill>
            </a:endParaRPr>
          </a:p>
        </p:txBody>
      </p:sp>
      <p:sp>
        <p:nvSpPr>
          <p:cNvPr id="100138" name="Chart2Title"/>
          <p:cNvSpPr txBox="1"/>
          <p:nvPr/>
        </p:nvSpPr>
        <p:spPr>
          <a:xfrm xmlns:a="http://schemas.openxmlformats.org/drawingml/2006/main">
            <a:off x="4536000" y="3168000"/>
            <a:ext cx="3240000" cy="25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400" b="1">
                <a:solidFill>
                  <a:srgbClr val="3FB950"/>
                </a:solidFill>
              </a:rPr>
              <a:t>Multi-Item Comparison</a:t>
            </a:r>
          </a:p>
        </p:txBody>
      </p:sp>
      <p:sp>
        <p:nvSpPr>
          <p:cNvPr id="100139" name="Chart2Body"/>
          <p:cNvSpPr txBox="1"/>
          <p:nvPr/>
        </p:nvSpPr>
        <p:spPr>
          <a:xfrm xmlns:a="http://schemas.openxmlformats.org/drawingml/2006/main">
            <a:off x="4536000" y="3492000"/>
            <a:ext cx="3240000" cy="198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a:solidFill>
                  <a:srgbClr val="C9D1D9"/>
                </a:solidFill>
              </a:rPr>
              <a:t>• Up to 5 items overlaid</a:t>
            </a:r>
          </a:p>
          <a:p xmlns:a="http://schemas.openxmlformats.org/drawingml/2006/main">
            <a:r>
              <a:rPr lang="en-US" sz="1300">
                <a:solidFill>
                  <a:srgbClr val="C9D1D9"/>
                </a:solidFill>
              </a:rPr>
              <a:t>• Auto-cycling color palette</a:t>
            </a:r>
          </a:p>
          <a:p xmlns:a="http://schemas.openxmlformats.org/drawingml/2006/main">
            <a:r>
              <a:rPr lang="en-US" sz="1300">
                <a:solidFill>
                  <a:srgbClr val="C9D1D9"/>
                </a:solidFill>
              </a:rPr>
              <a:t>• Legend anchored top-right</a:t>
            </a:r>
          </a:p>
          <a:p xmlns:a="http://schemas.openxmlformats.org/drawingml/2006/main">
            <a:r>
              <a:rPr lang="en-US" sz="1300">
                <a:solidFill>
                  <a:srgbClr val="C9D1D9"/>
                </a:solidFill>
              </a:rPr>
              <a:t>• Unified hover mode</a:t>
            </a:r>
          </a:p>
          <a:p xmlns:a="http://schemas.openxmlformats.org/drawingml/2006/main">
            <a:r>
              <a:rPr lang="en-US" sz="1300">
                <a:solidFill>
                  <a:srgbClr val="C9D1D9"/>
                </a:solidFill>
              </a:rPr>
              <a:t>• Multiselect sidebar control</a:t>
            </a:r>
          </a:p>
        </p:txBody>
      </p:sp>
      <p:sp>
        <p:nvSpPr>
          <p:cNvPr id="100140" name="Chart3Box"/>
          <p:cNvSpPr txBox="1"/>
          <p:nvPr/>
        </p:nvSpPr>
        <p:spPr>
          <a:xfrm xmlns:a="http://schemas.openxmlformats.org/drawingml/2006/main">
            <a:off x="8136000" y="3060000"/>
            <a:ext cx="3337200" cy="2520000"/>
          </a:xfrm>
          <a:prstGeom xmlns:a="http://schemas.openxmlformats.org/drawingml/2006/main" prst="rect">
            <a:avLst/>
          </a:prstGeom>
          <a:solidFill xmlns:a="http://schemas.openxmlformats.org/drawingml/2006/main">
            <a:srgbClr val="161B22"/>
          </a:solidFill>
        </p:spPr>
        <p:txBody>
          <a:bodyPr xmlns:a="http://schemas.openxmlformats.org/drawingml/2006/main"/>
          <a:lstStyle xmlns:a="http://schemas.openxmlformats.org/drawingml/2006/main"/>
          <a:p xmlns:a="http://schemas.openxmlformats.org/drawingml/2006/main">
            <a:endParaRPr lang="en-US">
              <a:solidFill>
                <a:srgbClr val="E3B341"/>
              </a:solidFill>
            </a:endParaRPr>
          </a:p>
        </p:txBody>
      </p:sp>
      <p:sp>
        <p:nvSpPr>
          <p:cNvPr id="100141" name="Chart3Title"/>
          <p:cNvSpPr txBox="1"/>
          <p:nvPr/>
        </p:nvSpPr>
        <p:spPr>
          <a:xfrm xmlns:a="http://schemas.openxmlformats.org/drawingml/2006/main">
            <a:off x="8244000" y="3168000"/>
            <a:ext cx="3240000" cy="25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400" b="1">
                <a:solidFill>
                  <a:srgbClr val="E3B341"/>
                </a:solidFill>
              </a:rPr>
              <a:t>YoY % Change Bar Chart</a:t>
            </a:r>
          </a:p>
        </p:txBody>
      </p:sp>
      <p:sp>
        <p:nvSpPr>
          <p:cNvPr id="100142" name="Chart3Body"/>
          <p:cNvSpPr txBox="1"/>
          <p:nvPr/>
        </p:nvSpPr>
        <p:spPr>
          <a:xfrm xmlns:a="http://schemas.openxmlformats.org/drawingml/2006/main">
            <a:off x="8244000" y="3492000"/>
            <a:ext cx="3240000" cy="198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a:solidFill>
                  <a:srgbClr val="C9D1D9"/>
                </a:solidFill>
              </a:rPr>
              <a:t>• Monthly YoY % via pct_change(12)</a:t>
            </a:r>
          </a:p>
          <a:p xmlns:a="http://schemas.openxmlformats.org/drawingml/2006/main">
            <a:r>
              <a:rPr lang="en-US" sz="1300">
                <a:solidFill>
                  <a:srgbClr val="C9D1D9"/>
                </a:solidFill>
              </a:rPr>
              <a:t>• Blue bars = positive, gold = negative</a:t>
            </a:r>
          </a:p>
          <a:p xmlns:a="http://schemas.openxmlformats.org/drawingml/2006/main">
            <a:r>
              <a:rPr lang="en-US" sz="1300">
                <a:solidFill>
                  <a:srgbClr val="C9D1D9"/>
                </a:solidFill>
              </a:rPr>
              <a:t>• 3.5% inflation reference line</a:t>
            </a:r>
          </a:p>
          <a:p xmlns:a="http://schemas.openxmlformats.org/drawingml/2006/main">
            <a:r>
              <a:rPr lang="en-US" sz="1300">
                <a:solidFill>
                  <a:srgbClr val="C9D1D9"/>
                </a:solidFill>
              </a:rPr>
              <a:t>• Zero baseline</a:t>
            </a:r>
          </a:p>
          <a:p xmlns:a="http://schemas.openxmlformats.org/drawingml/2006/main">
            <a:r>
              <a:rPr lang="en-US" sz="1300">
                <a:solidFill>
                  <a:srgbClr val="C9D1D9"/>
                </a:solidFill>
              </a:rPr>
              <a:t>• hover: date + exact % value</a:t>
            </a:r>
          </a:p>
        </p:txBody>
      </p:sp>
    </p:spTree>
  </p:cSld>
</p:sld>
</file>

<file path=ppt/slides/slide10.xml><?xml version="1.0" encoding="utf-8"?>
<p:sld xmlns:a="http://schemas.openxmlformats.org/drawingml/2006/main" xmlns:p="http://schemas.openxmlformats.org/presentationml/2006/main">
  <p:cSld>
    <p:bg>
      <p:bgPr>
        <a:solidFill xmlns:a="http://schemas.openxmlformats.org/drawingml/2006/main">
          <a:srgbClr val="0D1117"/>
        </a:solidFill>
      </p:bgPr>
    </p:bg>
    <p:spTree>
      <p:nvGrpSpPr>
        <p:cNvPr id="1" name=""/>
        <p:cNvGrpSpPr/>
        <p:nvPr/>
      </p:nvGrpSpPr>
      <p:grpSpPr/>
      <p:sp>
        <p:nvSpPr>
          <p:cNvPr id="100143" name="TopBar"/>
          <p:cNvSpPr txBox="1"/>
          <p:nvPr/>
        </p:nvSpPr>
        <p:spPr>
          <a:xfrm xmlns:a="http://schemas.openxmlformats.org/drawingml/2006/main">
            <a:off x="0" y="0"/>
            <a:ext cx="12193200" cy="126000"/>
          </a:xfrm>
          <a:prstGeom xmlns:a="http://schemas.openxmlformats.org/drawingml/2006/main" prst="rect">
            <a:avLst/>
          </a:prstGeom>
          <a:solidFill xmlns:a="http://schemas.openxmlformats.org/drawingml/2006/main">
            <a:srgbClr val="1F6FEB"/>
          </a:solidFill>
        </p:spPr>
        <p:txBody>
          <a:bodyPr xmlns:a="http://schemas.openxmlformats.org/drawingml/2006/main"/>
          <a:lstStyle xmlns:a="http://schemas.openxmlformats.org/drawingml/2006/main"/>
          <a:p xmlns:a="http://schemas.openxmlformats.org/drawingml/2006/main">
            <a:endParaRPr lang="en-US">
              <a:solidFill>
                <a:srgbClr val="1F6FEB"/>
              </a:solidFill>
            </a:endParaRPr>
          </a:p>
        </p:txBody>
      </p:sp>
      <p:sp>
        <p:nvSpPr>
          <p:cNvPr id="100144" name="SlideLabel"/>
          <p:cNvSpPr txBox="1"/>
          <p:nvPr/>
        </p:nvSpPr>
        <p:spPr>
          <a:xfrm xmlns:a="http://schemas.openxmlformats.org/drawingml/2006/main">
            <a:off x="720000" y="252000"/>
            <a:ext cx="9000000" cy="216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000" b="1">
                <a:solidFill>
                  <a:srgbClr val="58A6FF"/>
                </a:solidFill>
              </a:rPr>
              <a:t>FRONTEND UI — AI INSIGHTS &amp; DATA EXPLORER</a:t>
            </a:r>
          </a:p>
        </p:txBody>
      </p:sp>
      <p:sp>
        <p:nvSpPr>
          <p:cNvPr id="100145" name="SlideNum"/>
          <p:cNvSpPr txBox="1"/>
          <p:nvPr/>
        </p:nvSpPr>
        <p:spPr>
          <a:xfrm xmlns:a="http://schemas.openxmlformats.org/drawingml/2006/main">
            <a:off x="10800000" y="6408000"/>
            <a:ext cx="1080000" cy="216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a:solidFill>
                  <a:srgbClr val="484F58"/>
                </a:solidFill>
              </a:rPr>
              <a:t>10</a:t>
            </a:r>
          </a:p>
        </p:txBody>
      </p:sp>
      <p:sp>
        <p:nvSpPr>
          <p:cNvPr id="100146" name="Title"/>
          <p:cNvSpPr txBox="1"/>
          <p:nvPr/>
        </p:nvSpPr>
        <p:spPr>
          <a:xfrm xmlns:a="http://schemas.openxmlformats.org/drawingml/2006/main">
            <a:off x="720000" y="540000"/>
            <a:ext cx="10080000" cy="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600" b="1">
                <a:solidFill>
                  <a:srgbClr val="E6EDF3"/>
                </a:solidFill>
              </a:rPr>
              <a:t>AI Insight Engine &amp; Data Explorer</a:t>
            </a:r>
          </a:p>
        </p:txBody>
      </p:sp>
      <p:sp>
        <p:nvSpPr>
          <p:cNvPr id="100147" name="Divider"/>
          <p:cNvSpPr txBox="1"/>
          <p:nvPr/>
        </p:nvSpPr>
        <p:spPr>
          <a:xfrm xmlns:a="http://schemas.openxmlformats.org/drawingml/2006/main">
            <a:off x="720000" y="1116000"/>
            <a:ext cx="10753200" cy="18000"/>
          </a:xfrm>
          <a:prstGeom xmlns:a="http://schemas.openxmlformats.org/drawingml/2006/main" prst="rect">
            <a:avLst/>
          </a:prstGeom>
          <a:solidFill xmlns:a="http://schemas.openxmlformats.org/drawingml/2006/main">
            <a:srgbClr val="21262D"/>
          </a:solidFill>
        </p:spPr>
        <p:txBody>
          <a:bodyPr xmlns:a="http://schemas.openxmlformats.org/drawingml/2006/main"/>
          <a:lstStyle xmlns:a="http://schemas.openxmlformats.org/drawingml/2006/main"/>
          <a:p xmlns:a="http://schemas.openxmlformats.org/drawingml/2006/main">
            <a:endParaRPr lang="en-US">
              <a:solidFill>
                <a:srgbClr val="21262D"/>
              </a:solidFill>
            </a:endParaRPr>
          </a:p>
        </p:txBody>
      </p:sp>
      <p:sp>
        <p:nvSpPr>
          <p:cNvPr id="100148" name="InsightBox"/>
          <p:cNvSpPr txBox="1"/>
          <p:nvPr/>
        </p:nvSpPr>
        <p:spPr>
          <a:xfrm xmlns:a="http://schemas.openxmlformats.org/drawingml/2006/main">
            <a:off x="720000" y="1260000"/>
            <a:ext cx="5184000" cy="4716000"/>
          </a:xfrm>
          <a:prstGeom xmlns:a="http://schemas.openxmlformats.org/drawingml/2006/main" prst="rect">
            <a:avLst/>
          </a:prstGeom>
          <a:solidFill xmlns:a="http://schemas.openxmlformats.org/drawingml/2006/main">
            <a:srgbClr val="161B22"/>
          </a:solidFill>
        </p:spPr>
        <p:txBody>
          <a:bodyPr xmlns:a="http://schemas.openxmlformats.org/drawingml/2006/main"/>
          <a:lstStyle xmlns:a="http://schemas.openxmlformats.org/drawingml/2006/main"/>
          <a:p xmlns:a="http://schemas.openxmlformats.org/drawingml/2006/main">
            <a:endParaRPr lang="en-US">
              <a:solidFill>
                <a:srgbClr val="58A6FF"/>
              </a:solidFill>
            </a:endParaRPr>
          </a:p>
        </p:txBody>
      </p:sp>
      <p:sp>
        <p:nvSpPr>
          <p:cNvPr id="100149" name="InsightLabel"/>
          <p:cNvSpPr txBox="1"/>
          <p:nvPr/>
        </p:nvSpPr>
        <p:spPr>
          <a:xfrm xmlns:a="http://schemas.openxmlformats.org/drawingml/2006/main">
            <a:off x="900000" y="1368000"/>
            <a:ext cx="4680000" cy="216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000" b="1">
                <a:solidFill>
                  <a:srgbClr val="58A6FF"/>
                </a:solidFill>
              </a:rPr>
              <a:t>AI BUSINESS &amp; POLICY DECISIONS EXPANDER</a:t>
            </a:r>
          </a:p>
        </p:txBody>
      </p:sp>
      <p:sp>
        <p:nvSpPr>
          <p:cNvPr id="100150" name="InsightContent"/>
          <p:cNvSpPr txBox="1"/>
          <p:nvPr/>
        </p:nvSpPr>
        <p:spPr>
          <a:xfrm xmlns:a="http://schemas.openxmlformats.org/drawingml/2006/main">
            <a:off x="900000" y="1620000"/>
            <a:ext cx="4860000" cy="41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a:solidFill>
                  <a:srgbClr val="C9D1D9"/>
                </a:solidFill>
              </a:rPr>
              <a:t>Dynamic insight cards (6 types):</a:t>
            </a:r>
          </a:p>
          <a:p xmlns:a="http://schemas.openxmlformats.org/drawingml/2006/main">
            <a:r>
              <a:rPr lang="en-US" sz="1300">
                <a:solidFill>
                  <a:srgbClr val="C9D1D9"/>
                </a:solidFill>
              </a:rPr>
              <a:t/>
            </a:r>
          </a:p>
          <a:p xmlns:a="http://schemas.openxmlformats.org/drawingml/2006/main">
            <a:r>
              <a:rPr lang="en-US" sz="1300">
                <a:solidFill>
                  <a:srgbClr val="C9D1D9"/>
                </a:solidFill>
              </a:rPr>
              <a:t>1. Severe Escalation — change &gt; 50%</a:t>
            </a:r>
          </a:p>
          <a:p xmlns:a="http://schemas.openxmlformats.org/drawingml/2006/main">
            <a:r>
              <a:rPr lang="en-US" sz="1300">
                <a:solidFill>
                  <a:srgbClr val="C9D1D9"/>
                </a:solidFill>
              </a:rPr>
              <a:t>   Red alert: long-term contracts recommended</a:t>
            </a:r>
          </a:p>
          <a:p xmlns:a="http://schemas.openxmlformats.org/drawingml/2006/main">
            <a:r>
              <a:rPr lang="en-US" sz="1300">
                <a:solidFill>
                  <a:srgbClr val="C9D1D9"/>
                </a:solidFill>
              </a:rPr>
              <a:t/>
            </a:r>
          </a:p>
          <a:p xmlns:a="http://schemas.openxmlformats.org/drawingml/2006/main">
            <a:r>
              <a:rPr lang="en-US" sz="1300">
                <a:solidFill>
                  <a:srgbClr val="C9D1D9"/>
                </a:solidFill>
              </a:rPr>
              <a:t>2. Above-Inflation Growth — change &gt; 25%</a:t>
            </a:r>
          </a:p>
          <a:p xmlns:a="http://schemas.openxmlformats.org/drawingml/2006/main">
            <a:r>
              <a:rPr lang="en-US" sz="1300">
                <a:solidFill>
                  <a:srgbClr val="C9D1D9"/>
                </a:solidFill>
              </a:rPr>
              <a:t>   Hedge inventory 3–6 months ahead</a:t>
            </a:r>
          </a:p>
          <a:p xmlns:a="http://schemas.openxmlformats.org/drawingml/2006/main">
            <a:r>
              <a:rPr lang="en-US" sz="1300">
                <a:solidFill>
                  <a:srgbClr val="C9D1D9"/>
                </a:solidFill>
              </a:rPr>
              <a:t/>
            </a:r>
          </a:p>
          <a:p xmlns:a="http://schemas.openxmlformats.org/drawingml/2006/main">
            <a:r>
              <a:rPr lang="en-US" sz="1300">
                <a:solidFill>
                  <a:srgbClr val="C9D1D9"/>
                </a:solidFill>
              </a:rPr>
              <a:t>3. Stable Pricing — change 0–25%</a:t>
            </a:r>
          </a:p>
          <a:p xmlns:a="http://schemas.openxmlformats.org/drawingml/2006/main">
            <a:r>
              <a:rPr lang="en-US" sz="1300">
                <a:solidFill>
                  <a:srgbClr val="C9D1D9"/>
                </a:solidFill>
              </a:rPr>
              <a:t>   Standard reorder cycles appropriate</a:t>
            </a:r>
          </a:p>
          <a:p xmlns:a="http://schemas.openxmlformats.org/drawingml/2006/main">
            <a:r>
              <a:rPr lang="en-US" sz="1300">
                <a:solidFill>
                  <a:srgbClr val="C9D1D9"/>
                </a:solidFill>
              </a:rPr>
              <a:t/>
            </a:r>
          </a:p>
          <a:p xmlns:a="http://schemas.openxmlformats.org/drawingml/2006/main">
            <a:r>
              <a:rPr lang="en-US" sz="1300">
                <a:solidFill>
                  <a:srgbClr val="C9D1D9"/>
                </a:solidFill>
              </a:rPr>
              <a:t>4. Deflationary Pressure — change &lt; 0%</a:t>
            </a:r>
          </a:p>
          <a:p xmlns:a="http://schemas.openxmlformats.org/drawingml/2006/main">
            <a:r>
              <a:rPr lang="en-US" sz="1300">
                <a:solidFill>
                  <a:srgbClr val="C9D1D9"/>
                </a:solidFill>
              </a:rPr>
              <a:t>   Buyer's market: bulk purchasing opportunity</a:t>
            </a:r>
          </a:p>
          <a:p xmlns:a="http://schemas.openxmlformats.org/drawingml/2006/main">
            <a:r>
              <a:rPr lang="en-US" sz="1300">
                <a:solidFill>
                  <a:srgbClr val="C9D1D9"/>
                </a:solidFill>
              </a:rPr>
              <a:t/>
            </a:r>
          </a:p>
          <a:p xmlns:a="http://schemas.openxmlformats.org/drawingml/2006/main">
            <a:r>
              <a:rPr lang="en-US" sz="1300">
                <a:solidFill>
                  <a:srgbClr val="C9D1D9"/>
                </a:solidFill>
              </a:rPr>
              <a:t>5. Volatility Analysis — σ-based tier</a:t>
            </a:r>
          </a:p>
          <a:p xmlns:a="http://schemas.openxmlformats.org/drawingml/2006/main">
            <a:r>
              <a:rPr lang="en-US" sz="1300">
                <a:solidFill>
                  <a:srgbClr val="C9D1D9"/>
                </a:solidFill>
              </a:rPr>
              <a:t>   High: strategic reserves; Medium: hedge Q3</a:t>
            </a:r>
          </a:p>
          <a:p xmlns:a="http://schemas.openxmlformats.org/drawingml/2006/main">
            <a:r>
              <a:rPr lang="en-US" sz="1300">
                <a:solidFill>
                  <a:srgbClr val="C9D1D9"/>
                </a:solidFill>
              </a:rPr>
              <a:t/>
            </a:r>
          </a:p>
          <a:p xmlns:a="http://schemas.openxmlformats.org/drawingml/2006/main">
            <a:r>
              <a:rPr lang="en-US" sz="1300">
                <a:solidFill>
                  <a:srgbClr val="C9D1D9"/>
                </a:solidFill>
              </a:rPr>
              <a:t>6. Lag Insight — best lag from correlation</a:t>
            </a:r>
          </a:p>
          <a:p xmlns:a="http://schemas.openxmlformats.org/drawingml/2006/main">
            <a:r>
              <a:rPr lang="en-US" sz="1300">
                <a:solidFill>
                  <a:srgbClr val="C9D1D9"/>
                </a:solidFill>
              </a:rPr>
              <a:t>   Simultaneous / Short / Extended pass-through</a:t>
            </a:r>
          </a:p>
          <a:p xmlns:a="http://schemas.openxmlformats.org/drawingml/2006/main">
            <a:r>
              <a:rPr lang="en-US" sz="1300">
                <a:solidFill>
                  <a:srgbClr val="C9D1D9"/>
                </a:solidFill>
              </a:rPr>
              <a:t/>
            </a:r>
          </a:p>
          <a:p xmlns:a="http://schemas.openxmlformats.org/drawingml/2006/main">
            <a:r>
              <a:rPr lang="en-US" sz="1300">
                <a:solidFill>
                  <a:srgbClr val="C9D1D9"/>
                </a:solidFill>
              </a:rPr>
              <a:t>Bonus: USDA policy note about SNAP adjustments</a:t>
            </a:r>
          </a:p>
          <a:p xmlns:a="http://schemas.openxmlformats.org/drawingml/2006/main">
            <a:r>
              <a:rPr lang="en-US" sz="1300">
                <a:solidFill>
                  <a:srgbClr val="C9D1D9"/>
                </a:solidFill>
              </a:rPr>
              <a:t/>
            </a:r>
          </a:p>
          <a:p xmlns:a="http://schemas.openxmlformats.org/drawingml/2006/main">
            <a:r>
              <a:rPr lang="en-US" sz="1300">
                <a:solidFill>
                  <a:srgbClr val="C9D1D9"/>
                </a:solidFill>
              </a:rPr>
              <a:t>Also includes:</a:t>
            </a:r>
          </a:p>
          <a:p xmlns:a="http://schemas.openxmlformats.org/drawingml/2006/main">
            <a:r>
              <a:rPr lang="en-US" sz="1300">
                <a:solidFill>
                  <a:srgbClr val="C9D1D9"/>
                </a:solidFill>
              </a:rPr>
              <a:t>• OLS fuel vs. grocery scatter plot (Plotly)</a:t>
            </a:r>
          </a:p>
          <a:p xmlns:a="http://schemas.openxmlformats.org/drawingml/2006/main">
            <a:r>
              <a:rPr lang="en-US" sz="1300">
                <a:solidFill>
                  <a:srgbClr val="C9D1D9"/>
                </a:solidFill>
              </a:rPr>
              <a:t>  coloured by year (Plasma colorscale)</a:t>
            </a:r>
          </a:p>
          <a:p xmlns:a="http://schemas.openxmlformats.org/drawingml/2006/main">
            <a:r>
              <a:rPr lang="en-US" sz="1300">
                <a:solidFill>
                  <a:srgbClr val="C9D1D9"/>
                </a:solidFill>
              </a:rPr>
              <a:t>• Active filters displayed in panel header</a:t>
            </a:r>
          </a:p>
        </p:txBody>
      </p:sp>
      <p:sp>
        <p:nvSpPr>
          <p:cNvPr id="100151" name="ExplorerBox"/>
          <p:cNvSpPr txBox="1"/>
          <p:nvPr/>
        </p:nvSpPr>
        <p:spPr>
          <a:xfrm xmlns:a="http://schemas.openxmlformats.org/drawingml/2006/main">
            <a:off x="6264000" y="1260000"/>
            <a:ext cx="5220000" cy="4716000"/>
          </a:xfrm>
          <a:prstGeom xmlns:a="http://schemas.openxmlformats.org/drawingml/2006/main" prst="rect">
            <a:avLst/>
          </a:prstGeom>
          <a:solidFill xmlns:a="http://schemas.openxmlformats.org/drawingml/2006/main">
            <a:srgbClr val="161B22"/>
          </a:solidFill>
        </p:spPr>
        <p:txBody>
          <a:bodyPr xmlns:a="http://schemas.openxmlformats.org/drawingml/2006/main"/>
          <a:lstStyle xmlns:a="http://schemas.openxmlformats.org/drawingml/2006/main"/>
          <a:p xmlns:a="http://schemas.openxmlformats.org/drawingml/2006/main">
            <a:endParaRPr lang="en-US">
              <a:solidFill>
                <a:srgbClr val="A371F7"/>
              </a:solidFill>
            </a:endParaRPr>
          </a:p>
        </p:txBody>
      </p:sp>
      <p:sp>
        <p:nvSpPr>
          <p:cNvPr id="100152" name="ExplorerLabel"/>
          <p:cNvSpPr txBox="1"/>
          <p:nvPr/>
        </p:nvSpPr>
        <p:spPr>
          <a:xfrm xmlns:a="http://schemas.openxmlformats.org/drawingml/2006/main">
            <a:off x="6444000" y="1368000"/>
            <a:ext cx="4680000" cy="216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000" b="1">
                <a:solidFill>
                  <a:srgbClr val="A371F7"/>
                </a:solidFill>
              </a:rPr>
              <a:t>DATA EXPLORER  (Tab 4)</a:t>
            </a:r>
          </a:p>
        </p:txBody>
      </p:sp>
      <p:sp>
        <p:nvSpPr>
          <p:cNvPr id="100153" name="ExplorerContent"/>
          <p:cNvSpPr txBox="1"/>
          <p:nvPr/>
        </p:nvSpPr>
        <p:spPr>
          <a:xfrm xmlns:a="http://schemas.openxmlformats.org/drawingml/2006/main">
            <a:off x="6444000" y="1620000"/>
            <a:ext cx="4860000" cy="41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a:solidFill>
                  <a:srgbClr val="C9D1D9"/>
                </a:solidFill>
              </a:rPr>
              <a:t>Item Summary Statistics:</a:t>
            </a:r>
          </a:p>
          <a:p xmlns:a="http://schemas.openxmlformats.org/drawingml/2006/main">
            <a:r>
              <a:rPr lang="en-US" sz="1300">
                <a:solidFill>
                  <a:srgbClr val="C9D1D9"/>
                </a:solidFill>
              </a:rPr>
              <a:t>  Collapsible expander with pre-aggregated stats</a:t>
            </a:r>
          </a:p>
          <a:p xmlns:a="http://schemas.openxmlformats.org/drawingml/2006/main">
            <a:r>
              <a:rPr lang="en-US" sz="1300">
                <a:solidFill>
                  <a:srgbClr val="C9D1D9"/>
                </a:solidFill>
              </a:rPr>
              <a:t>  from us_average_prices_item_summary.csv</a:t>
            </a:r>
          </a:p>
          <a:p xmlns:a="http://schemas.openxmlformats.org/drawingml/2006/main">
            <a:r>
              <a:rPr lang="en-US" sz="1300">
                <a:solidFill>
                  <a:srgbClr val="C9D1D9"/>
                </a:solidFill>
              </a:rPr>
              <a:t/>
            </a:r>
          </a:p>
          <a:p xmlns:a="http://schemas.openxmlformats.org/drawingml/2006/main">
            <a:r>
              <a:rPr lang="en-US" sz="1300">
                <a:solidFill>
                  <a:srgbClr val="C9D1D9"/>
                </a:solidFill>
              </a:rPr>
              <a:t>Styled Data Table:</a:t>
            </a:r>
          </a:p>
          <a:p xmlns:a="http://schemas.openxmlformats.org/drawingml/2006/main">
            <a:r>
              <a:rPr lang="en-US" sz="1300">
                <a:solidFill>
                  <a:srgbClr val="C9D1D9"/>
                </a:solidFill>
              </a:rPr>
              <a:t>  Blue gradient heatmap ($%.3f format)</a:t>
            </a:r>
          </a:p>
          <a:p xmlns:a="http://schemas.openxmlformats.org/drawingml/2006/main">
            <a:r>
              <a:rPr lang="en-US" sz="1300">
                <a:solidFill>
                  <a:srgbClr val="C9D1D9"/>
                </a:solidFill>
              </a:rPr>
              <a:t>  Shows selected item + comparison items</a:t>
            </a:r>
          </a:p>
          <a:p xmlns:a="http://schemas.openxmlformats.org/drawingml/2006/main">
            <a:r>
              <a:rPr lang="en-US" sz="1300">
                <a:solidFill>
                  <a:srgbClr val="C9D1D9"/>
                </a:solidFill>
              </a:rPr>
              <a:t>  Dates displayed as YYYY-MM strings</a:t>
            </a:r>
          </a:p>
          <a:p xmlns:a="http://schemas.openxmlformats.org/drawingml/2006/main">
            <a:r>
              <a:rPr lang="en-US" sz="1300">
                <a:solidFill>
                  <a:srgbClr val="C9D1D9"/>
                </a:solidFill>
              </a:rPr>
              <a:t/>
            </a:r>
          </a:p>
          <a:p xmlns:a="http://schemas.openxmlformats.org/drawingml/2006/main">
            <a:r>
              <a:rPr lang="en-US" sz="1300">
                <a:solidFill>
                  <a:srgbClr val="C9D1D9"/>
                </a:solidFill>
              </a:rPr>
              <a:t>Descriptive Statistics Panel:</a:t>
            </a:r>
          </a:p>
          <a:p xmlns:a="http://schemas.openxmlformats.org/drawingml/2006/main">
            <a:r>
              <a:rPr lang="en-US" sz="1300">
                <a:solidFill>
                  <a:srgbClr val="C9D1D9"/>
                </a:solidFill>
              </a:rPr>
              <a:t>  pandas .describe() output</a:t>
            </a:r>
          </a:p>
          <a:p xmlns:a="http://schemas.openxmlformats.org/drawingml/2006/main">
            <a:r>
              <a:rPr lang="en-US" sz="1300">
                <a:solidFill>
                  <a:srgbClr val="C9D1D9"/>
                </a:solidFill>
              </a:rPr>
              <a:t>  Background-gradient styling on value columns</a:t>
            </a:r>
          </a:p>
          <a:p xmlns:a="http://schemas.openxmlformats.org/drawingml/2006/main">
            <a:r>
              <a:rPr lang="en-US" sz="1300">
                <a:solidFill>
                  <a:srgbClr val="C9D1D9"/>
                </a:solidFill>
              </a:rPr>
              <a:t/>
            </a:r>
          </a:p>
          <a:p xmlns:a="http://schemas.openxmlformats.org/drawingml/2006/main">
            <a:r>
              <a:rPr lang="en-US" sz="1300">
                <a:solidFill>
                  <a:srgbClr val="C9D1D9"/>
                </a:solidFill>
              </a:rPr>
              <a:t>Price Distribution (Box Plot):</a:t>
            </a:r>
          </a:p>
          <a:p xmlns:a="http://schemas.openxmlformats.org/drawingml/2006/main">
            <a:r>
              <a:rPr lang="en-US" sz="1300">
                <a:solidFill>
                  <a:srgbClr val="C9D1D9"/>
                </a:solidFill>
              </a:rPr>
              <a:t>  go.Box() with outlier markers</a:t>
            </a:r>
          </a:p>
          <a:p xmlns:a="http://schemas.openxmlformats.org/drawingml/2006/main">
            <a:r>
              <a:rPr lang="en-US" sz="1300">
                <a:solidFill>
                  <a:srgbClr val="C9D1D9"/>
                </a:solidFill>
              </a:rPr>
              <a:t>  Up to 8 items compared simultaneously</a:t>
            </a:r>
          </a:p>
          <a:p xmlns:a="http://schemas.openxmlformats.org/drawingml/2006/main">
            <a:r>
              <a:rPr lang="en-US" sz="1300">
                <a:solidFill>
                  <a:srgbClr val="C9D1D9"/>
                </a:solidFill>
              </a:rPr>
              <a:t/>
            </a:r>
          </a:p>
          <a:p xmlns:a="http://schemas.openxmlformats.org/drawingml/2006/main">
            <a:r>
              <a:rPr lang="en-US" sz="1300">
                <a:solidFill>
                  <a:srgbClr val="C9D1D9"/>
                </a:solidFill>
              </a:rPr>
              <a:t>CSV Download Button:</a:t>
            </a:r>
          </a:p>
          <a:p xmlns:a="http://schemas.openxmlformats.org/drawingml/2006/main">
            <a:r>
              <a:rPr lang="en-US" sz="1300">
                <a:solidFill>
                  <a:srgbClr val="C9D1D9"/>
                </a:solidFill>
              </a:rPr>
              <a:t>  st.download_button() — exports entire</a:t>
            </a:r>
          </a:p>
          <a:p xmlns:a="http://schemas.openxmlformats.org/drawingml/2006/main">
            <a:r>
              <a:rPr lang="en-US" sz="1300">
                <a:solidFill>
                  <a:srgbClr val="C9D1D9"/>
                </a:solidFill>
              </a:rPr>
              <a:t>  filtered &amp; transformed dataset as CSV</a:t>
            </a:r>
          </a:p>
          <a:p xmlns:a="http://schemas.openxmlformats.org/drawingml/2006/main">
            <a:r>
              <a:rPr lang="en-US" sz="1300">
                <a:solidFill>
                  <a:srgbClr val="C9D1D9"/>
                </a:solidFill>
              </a:rPr>
              <a:t>  (inflation-adjusted, rolling, date-filtered)</a:t>
            </a:r>
          </a:p>
          <a:p xmlns:a="http://schemas.openxmlformats.org/drawingml/2006/main">
            <a:r>
              <a:rPr lang="en-US" sz="1300">
                <a:solidFill>
                  <a:srgbClr val="C9D1D9"/>
                </a:solidFill>
              </a:rPr>
              <a:t/>
            </a:r>
          </a:p>
          <a:p xmlns:a="http://schemas.openxmlformats.org/drawingml/2006/main">
            <a:r>
              <a:rPr lang="en-US" sz="1300">
                <a:solidFill>
                  <a:srgbClr val="C9D1D9"/>
                </a:solidFill>
              </a:rPr>
              <a:t>All views respect the sidebar filters:</a:t>
            </a:r>
          </a:p>
          <a:p xmlns:a="http://schemas.openxmlformats.org/drawingml/2006/main">
            <a:r>
              <a:rPr lang="en-US" sz="1300">
                <a:solidFill>
                  <a:srgbClr val="C9D1D9"/>
                </a:solidFill>
              </a:rPr>
              <a:t>  date range, price mode, inflation toggle</a:t>
            </a:r>
          </a:p>
        </p:txBody>
      </p:sp>
    </p:spTree>
  </p:cSld>
</p:sld>
</file>

<file path=ppt/slides/slide11.xml><?xml version="1.0" encoding="utf-8"?>
<p:sld xmlns:a="http://schemas.openxmlformats.org/drawingml/2006/main" xmlns:p="http://schemas.openxmlformats.org/presentationml/2006/main">
  <p:cSld>
    <p:bg>
      <p:bgPr>
        <a:solidFill xmlns:a="http://schemas.openxmlformats.org/drawingml/2006/main">
          <a:srgbClr val="0D1117"/>
        </a:solidFill>
      </p:bgPr>
    </p:bg>
    <p:spTree>
      <p:nvGrpSpPr>
        <p:cNvPr id="1" name=""/>
        <p:cNvGrpSpPr/>
        <p:nvPr/>
      </p:nvGrpSpPr>
      <p:grpSpPr/>
      <p:sp>
        <p:nvSpPr>
          <p:cNvPr id="100154" name="TopBar"/>
          <p:cNvSpPr txBox="1"/>
          <p:nvPr/>
        </p:nvSpPr>
        <p:spPr>
          <a:xfrm xmlns:a="http://schemas.openxmlformats.org/drawingml/2006/main">
            <a:off x="0" y="0"/>
            <a:ext cx="12193200" cy="126000"/>
          </a:xfrm>
          <a:prstGeom xmlns:a="http://schemas.openxmlformats.org/drawingml/2006/main" prst="rect">
            <a:avLst/>
          </a:prstGeom>
          <a:solidFill xmlns:a="http://schemas.openxmlformats.org/drawingml/2006/main">
            <a:srgbClr val="1F6FEB"/>
          </a:solidFill>
        </p:spPr>
        <p:txBody>
          <a:bodyPr xmlns:a="http://schemas.openxmlformats.org/drawingml/2006/main"/>
          <a:lstStyle xmlns:a="http://schemas.openxmlformats.org/drawingml/2006/main"/>
          <a:p xmlns:a="http://schemas.openxmlformats.org/drawingml/2006/main">
            <a:endParaRPr lang="en-US">
              <a:solidFill>
                <a:srgbClr val="1F6FEB"/>
              </a:solidFill>
            </a:endParaRPr>
          </a:p>
        </p:txBody>
      </p:sp>
      <p:sp>
        <p:nvSpPr>
          <p:cNvPr id="100155" name="SlideLabel"/>
          <p:cNvSpPr txBox="1"/>
          <p:nvPr/>
        </p:nvSpPr>
        <p:spPr>
          <a:xfrm xmlns:a="http://schemas.openxmlformats.org/drawingml/2006/main">
            <a:off x="720000" y="252000"/>
            <a:ext cx="5400000" cy="216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000" b="1">
                <a:solidFill>
                  <a:srgbClr val="58A6FF"/>
                </a:solidFill>
              </a:rPr>
              <a:t>TECHNOLOGY STACK</a:t>
            </a:r>
          </a:p>
        </p:txBody>
      </p:sp>
      <p:sp>
        <p:nvSpPr>
          <p:cNvPr id="100156" name="SlideNum"/>
          <p:cNvSpPr txBox="1"/>
          <p:nvPr/>
        </p:nvSpPr>
        <p:spPr>
          <a:xfrm xmlns:a="http://schemas.openxmlformats.org/drawingml/2006/main">
            <a:off x="10800000" y="6408000"/>
            <a:ext cx="1080000" cy="216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a:solidFill>
                  <a:srgbClr val="484F58"/>
                </a:solidFill>
              </a:rPr>
              <a:t>11</a:t>
            </a:r>
          </a:p>
        </p:txBody>
      </p:sp>
      <p:sp>
        <p:nvSpPr>
          <p:cNvPr id="100157" name="Title"/>
          <p:cNvSpPr txBox="1"/>
          <p:nvPr/>
        </p:nvSpPr>
        <p:spPr>
          <a:xfrm xmlns:a="http://schemas.openxmlformats.org/drawingml/2006/main">
            <a:off x="720000" y="540000"/>
            <a:ext cx="10080000" cy="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600" b="1">
                <a:solidFill>
                  <a:srgbClr val="E6EDF3"/>
                </a:solidFill>
              </a:rPr>
              <a:t>Technology Stack</a:t>
            </a:r>
          </a:p>
        </p:txBody>
      </p:sp>
      <p:sp>
        <p:nvSpPr>
          <p:cNvPr id="100158" name="Divider"/>
          <p:cNvSpPr txBox="1"/>
          <p:nvPr/>
        </p:nvSpPr>
        <p:spPr>
          <a:xfrm xmlns:a="http://schemas.openxmlformats.org/drawingml/2006/main">
            <a:off x="720000" y="1116000"/>
            <a:ext cx="10753200" cy="18000"/>
          </a:xfrm>
          <a:prstGeom xmlns:a="http://schemas.openxmlformats.org/drawingml/2006/main" prst="rect">
            <a:avLst/>
          </a:prstGeom>
          <a:solidFill xmlns:a="http://schemas.openxmlformats.org/drawingml/2006/main">
            <a:srgbClr val="21262D"/>
          </a:solidFill>
        </p:spPr>
        <p:txBody>
          <a:bodyPr xmlns:a="http://schemas.openxmlformats.org/drawingml/2006/main"/>
          <a:lstStyle xmlns:a="http://schemas.openxmlformats.org/drawingml/2006/main"/>
          <a:p xmlns:a="http://schemas.openxmlformats.org/drawingml/2006/main">
            <a:endParaRPr lang="en-US">
              <a:solidFill>
                <a:srgbClr val="21262D"/>
              </a:solidFill>
            </a:endParaRPr>
          </a:p>
        </p:txBody>
      </p:sp>
      <p:sp>
        <p:nvSpPr>
          <p:cNvPr id="100159" name="T1"/>
          <p:cNvSpPr txBox="1"/>
          <p:nvPr/>
        </p:nvSpPr>
        <p:spPr>
          <a:xfrm xmlns:a="http://schemas.openxmlformats.org/drawingml/2006/main">
            <a:off x="720000" y="1260000"/>
            <a:ext cx="3240000" cy="1260000"/>
          </a:xfrm>
          <a:prstGeom xmlns:a="http://schemas.openxmlformats.org/drawingml/2006/main" prst="rect">
            <a:avLst/>
          </a:prstGeom>
          <a:solidFill xmlns:a="http://schemas.openxmlformats.org/drawingml/2006/main">
            <a:srgbClr val="161B22"/>
          </a:solidFill>
        </p:spPr>
        <p:txBody>
          <a:bodyPr xmlns:a="http://schemas.openxmlformats.org/drawingml/2006/main"/>
          <a:lstStyle xmlns:a="http://schemas.openxmlformats.org/drawingml/2006/main"/>
          <a:p xmlns:a="http://schemas.openxmlformats.org/drawingml/2006/main">
            <a:endParaRPr lang="en-US">
              <a:solidFill>
                <a:srgbClr val="58A6FF"/>
              </a:solidFill>
            </a:endParaRPr>
          </a:p>
        </p:txBody>
      </p:sp>
      <p:sp>
        <p:nvSpPr>
          <p:cNvPr id="100160" name="T1Name"/>
          <p:cNvSpPr txBox="1"/>
          <p:nvPr/>
        </p:nvSpPr>
        <p:spPr>
          <a:xfrm xmlns:a="http://schemas.openxmlformats.org/drawingml/2006/main">
            <a:off x="864000" y="1368000"/>
            <a:ext cx="288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800" b="1">
                <a:solidFill>
                  <a:srgbClr val="58A6FF"/>
                </a:solidFill>
              </a:rPr>
              <a:t>Streamlit  ≥ 1.32</a:t>
            </a:r>
          </a:p>
        </p:txBody>
      </p:sp>
      <p:sp>
        <p:nvSpPr>
          <p:cNvPr id="100161" name="T1Desc"/>
          <p:cNvSpPr txBox="1"/>
          <p:nvPr/>
        </p:nvSpPr>
        <p:spPr>
          <a:xfrm xmlns:a="http://schemas.openxmlformats.org/drawingml/2006/main">
            <a:off x="864000" y="1692000"/>
            <a:ext cx="2880000" cy="72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a:solidFill>
                  <a:srgbClr val="C9D1D9"/>
                </a:solidFill>
              </a:rPr>
              <a:t>Web framework · Wide layout · Custom CSS dark theme · Caching · Sidebar · Tabs · Expanders</a:t>
            </a:r>
          </a:p>
        </p:txBody>
      </p:sp>
      <p:sp>
        <p:nvSpPr>
          <p:cNvPr id="100162" name="T2"/>
          <p:cNvSpPr txBox="1"/>
          <p:nvPr/>
        </p:nvSpPr>
        <p:spPr>
          <a:xfrm xmlns:a="http://schemas.openxmlformats.org/drawingml/2006/main">
            <a:off x="4356000" y="1260000"/>
            <a:ext cx="3240000" cy="1260000"/>
          </a:xfrm>
          <a:prstGeom xmlns:a="http://schemas.openxmlformats.org/drawingml/2006/main" prst="rect">
            <a:avLst/>
          </a:prstGeom>
          <a:solidFill xmlns:a="http://schemas.openxmlformats.org/drawingml/2006/main">
            <a:srgbClr val="161B22"/>
          </a:solidFill>
        </p:spPr>
        <p:txBody>
          <a:bodyPr xmlns:a="http://schemas.openxmlformats.org/drawingml/2006/main"/>
          <a:lstStyle xmlns:a="http://schemas.openxmlformats.org/drawingml/2006/main"/>
          <a:p xmlns:a="http://schemas.openxmlformats.org/drawingml/2006/main">
            <a:endParaRPr lang="en-US">
              <a:solidFill>
                <a:srgbClr val="3FB950"/>
              </a:solidFill>
            </a:endParaRPr>
          </a:p>
        </p:txBody>
      </p:sp>
      <p:sp>
        <p:nvSpPr>
          <p:cNvPr id="100163" name="T2Name"/>
          <p:cNvSpPr txBox="1"/>
          <p:nvPr/>
        </p:nvSpPr>
        <p:spPr>
          <a:xfrm xmlns:a="http://schemas.openxmlformats.org/drawingml/2006/main">
            <a:off x="4500000" y="1368000"/>
            <a:ext cx="288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800" b="1">
                <a:solidFill>
                  <a:srgbClr val="3FB950"/>
                </a:solidFill>
              </a:rPr>
              <a:t>Plotly  ≥ 5.20</a:t>
            </a:r>
          </a:p>
        </p:txBody>
      </p:sp>
      <p:sp>
        <p:nvSpPr>
          <p:cNvPr id="100164" name="T2Desc"/>
          <p:cNvSpPr txBox="1"/>
          <p:nvPr/>
        </p:nvSpPr>
        <p:spPr>
          <a:xfrm xmlns:a="http://schemas.openxmlformats.org/drawingml/2006/main">
            <a:off x="4500000" y="1692000"/>
            <a:ext cx="2880000" cy="72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a:solidFill>
                  <a:srgbClr val="C9D1D9"/>
                </a:solidFill>
              </a:rPr>
              <a:t>go.Figure · go.Scatter · go.Bar · go.Box · go.Heatmap · px.scatter with OLS trendline</a:t>
            </a:r>
          </a:p>
        </p:txBody>
      </p:sp>
      <p:sp>
        <p:nvSpPr>
          <p:cNvPr id="100165" name="T3"/>
          <p:cNvSpPr txBox="1"/>
          <p:nvPr/>
        </p:nvSpPr>
        <p:spPr>
          <a:xfrm xmlns:a="http://schemas.openxmlformats.org/drawingml/2006/main">
            <a:off x="7992000" y="1260000"/>
            <a:ext cx="3481200" cy="1260000"/>
          </a:xfrm>
          <a:prstGeom xmlns:a="http://schemas.openxmlformats.org/drawingml/2006/main" prst="rect">
            <a:avLst/>
          </a:prstGeom>
          <a:solidFill xmlns:a="http://schemas.openxmlformats.org/drawingml/2006/main">
            <a:srgbClr val="161B22"/>
          </a:solidFill>
        </p:spPr>
        <p:txBody>
          <a:bodyPr xmlns:a="http://schemas.openxmlformats.org/drawingml/2006/main"/>
          <a:lstStyle xmlns:a="http://schemas.openxmlformats.org/drawingml/2006/main"/>
          <a:p xmlns:a="http://schemas.openxmlformats.org/drawingml/2006/main">
            <a:endParaRPr lang="en-US">
              <a:solidFill>
                <a:srgbClr val="E3B341"/>
              </a:solidFill>
            </a:endParaRPr>
          </a:p>
        </p:txBody>
      </p:sp>
      <p:sp>
        <p:nvSpPr>
          <p:cNvPr id="100166" name="T3Name"/>
          <p:cNvSpPr txBox="1"/>
          <p:nvPr/>
        </p:nvSpPr>
        <p:spPr>
          <a:xfrm xmlns:a="http://schemas.openxmlformats.org/drawingml/2006/main">
            <a:off x="8136000" y="1368000"/>
            <a:ext cx="324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800" b="1">
                <a:solidFill>
                  <a:srgbClr val="E3B341"/>
                </a:solidFill>
              </a:rPr>
              <a:t>Pandas  ≥ 2.0</a:t>
            </a:r>
          </a:p>
        </p:txBody>
      </p:sp>
      <p:sp>
        <p:nvSpPr>
          <p:cNvPr id="100167" name="T3Desc"/>
          <p:cNvSpPr txBox="1"/>
          <p:nvPr/>
        </p:nvSpPr>
        <p:spPr>
          <a:xfrm xmlns:a="http://schemas.openxmlformats.org/drawingml/2006/main">
            <a:off x="8136000" y="1692000"/>
            <a:ext cx="3240000" cy="72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a:solidFill>
                  <a:srgbClr val="C9D1D9"/>
                </a:solidFill>
              </a:rPr>
              <a:t>Data loading · pivot_table · rolling · pct_change · combine_first · ffill / bfill · describe</a:t>
            </a:r>
          </a:p>
        </p:txBody>
      </p:sp>
      <p:sp>
        <p:nvSpPr>
          <p:cNvPr id="100168" name="T4"/>
          <p:cNvSpPr txBox="1"/>
          <p:nvPr/>
        </p:nvSpPr>
        <p:spPr>
          <a:xfrm xmlns:a="http://schemas.openxmlformats.org/drawingml/2006/main">
            <a:off x="720000" y="2664000"/>
            <a:ext cx="3240000" cy="1260000"/>
          </a:xfrm>
          <a:prstGeom xmlns:a="http://schemas.openxmlformats.org/drawingml/2006/main" prst="rect">
            <a:avLst/>
          </a:prstGeom>
          <a:solidFill xmlns:a="http://schemas.openxmlformats.org/drawingml/2006/main">
            <a:srgbClr val="161B22"/>
          </a:solidFill>
        </p:spPr>
        <p:txBody>
          <a:bodyPr xmlns:a="http://schemas.openxmlformats.org/drawingml/2006/main"/>
          <a:lstStyle xmlns:a="http://schemas.openxmlformats.org/drawingml/2006/main"/>
          <a:p xmlns:a="http://schemas.openxmlformats.org/drawingml/2006/main">
            <a:endParaRPr lang="en-US">
              <a:solidFill>
                <a:srgbClr val="A371F7"/>
              </a:solidFill>
            </a:endParaRPr>
          </a:p>
        </p:txBody>
      </p:sp>
      <p:sp>
        <p:nvSpPr>
          <p:cNvPr id="100169" name="T4Name"/>
          <p:cNvSpPr txBox="1"/>
          <p:nvPr/>
        </p:nvSpPr>
        <p:spPr>
          <a:xfrm xmlns:a="http://schemas.openxmlformats.org/drawingml/2006/main">
            <a:off x="864000" y="2772000"/>
            <a:ext cx="288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800" b="1">
                <a:solidFill>
                  <a:srgbClr val="A371F7"/>
                </a:solidFill>
              </a:rPr>
              <a:t>NumPy  ≥ 1.26</a:t>
            </a:r>
          </a:p>
        </p:txBody>
      </p:sp>
      <p:sp>
        <p:nvSpPr>
          <p:cNvPr id="100170" name="T4Desc"/>
          <p:cNvSpPr txBox="1"/>
          <p:nvPr/>
        </p:nvSpPr>
        <p:spPr>
          <a:xfrm xmlns:a="http://schemas.openxmlformats.org/drawingml/2006/main">
            <a:off x="864000" y="3096000"/>
            <a:ext cx="2880000" cy="72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a:solidFill>
                  <a:srgbClr val="C9D1D9"/>
                </a:solidFill>
              </a:rPr>
              <a:t>Array ops · inflation factor computation · forecast index generation · residual std</a:t>
            </a:r>
          </a:p>
        </p:txBody>
      </p:sp>
      <p:sp>
        <p:nvSpPr>
          <p:cNvPr id="100171" name="T5"/>
          <p:cNvSpPr txBox="1"/>
          <p:nvPr/>
        </p:nvSpPr>
        <p:spPr>
          <a:xfrm xmlns:a="http://schemas.openxmlformats.org/drawingml/2006/main">
            <a:off x="4356000" y="2664000"/>
            <a:ext cx="3240000" cy="1260000"/>
          </a:xfrm>
          <a:prstGeom xmlns:a="http://schemas.openxmlformats.org/drawingml/2006/main" prst="rect">
            <a:avLst/>
          </a:prstGeom>
          <a:solidFill xmlns:a="http://schemas.openxmlformats.org/drawingml/2006/main">
            <a:srgbClr val="161B22"/>
          </a:solidFill>
        </p:spPr>
        <p:txBody>
          <a:bodyPr xmlns:a="http://schemas.openxmlformats.org/drawingml/2006/main"/>
          <a:lstStyle xmlns:a="http://schemas.openxmlformats.org/drawingml/2006/main"/>
          <a:p xmlns:a="http://schemas.openxmlformats.org/drawingml/2006/main">
            <a:endParaRPr lang="en-US">
              <a:solidFill>
                <a:srgbClr val="FFA657"/>
              </a:solidFill>
            </a:endParaRPr>
          </a:p>
        </p:txBody>
      </p:sp>
      <p:sp>
        <p:nvSpPr>
          <p:cNvPr id="100172" name="T5Name"/>
          <p:cNvSpPr txBox="1"/>
          <p:nvPr/>
        </p:nvSpPr>
        <p:spPr>
          <a:xfrm xmlns:a="http://schemas.openxmlformats.org/drawingml/2006/main">
            <a:off x="4500000" y="2772000"/>
            <a:ext cx="288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800" b="1">
                <a:solidFill>
                  <a:srgbClr val="FFA657"/>
                </a:solidFill>
              </a:rPr>
              <a:t>Prophet  ≥ 1.1.5</a:t>
            </a:r>
          </a:p>
        </p:txBody>
      </p:sp>
      <p:sp>
        <p:nvSpPr>
          <p:cNvPr id="100173" name="T5Desc"/>
          <p:cNvSpPr txBox="1"/>
          <p:nvPr/>
        </p:nvSpPr>
        <p:spPr>
          <a:xfrm xmlns:a="http://schemas.openxmlformats.org/drawingml/2006/main">
            <a:off x="4500000" y="3096000"/>
            <a:ext cx="2880000" cy="72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a:solidFill>
                  <a:srgbClr val="C9D1D9"/>
                </a:solidFill>
              </a:rPr>
              <a:t>Multiplicative seasonality forecast · 95% CI · Trend changepoints · make_future_dataframe</a:t>
            </a:r>
          </a:p>
        </p:txBody>
      </p:sp>
      <p:sp>
        <p:nvSpPr>
          <p:cNvPr id="100174" name="T6"/>
          <p:cNvSpPr txBox="1"/>
          <p:nvPr/>
        </p:nvSpPr>
        <p:spPr>
          <a:xfrm xmlns:a="http://schemas.openxmlformats.org/drawingml/2006/main">
            <a:off x="7992000" y="2664000"/>
            <a:ext cx="3481200" cy="1260000"/>
          </a:xfrm>
          <a:prstGeom xmlns:a="http://schemas.openxmlformats.org/drawingml/2006/main" prst="rect">
            <a:avLst/>
          </a:prstGeom>
          <a:solidFill xmlns:a="http://schemas.openxmlformats.org/drawingml/2006/main">
            <a:srgbClr val="161B22"/>
          </a:solidFill>
        </p:spPr>
        <p:txBody>
          <a:bodyPr xmlns:a="http://schemas.openxmlformats.org/drawingml/2006/main"/>
          <a:lstStyle xmlns:a="http://schemas.openxmlformats.org/drawingml/2006/main"/>
          <a:p xmlns:a="http://schemas.openxmlformats.org/drawingml/2006/main">
            <a:endParaRPr lang="en-US">
              <a:solidFill>
                <a:srgbClr val="F85149"/>
              </a:solidFill>
            </a:endParaRPr>
          </a:p>
        </p:txBody>
      </p:sp>
      <p:sp>
        <p:nvSpPr>
          <p:cNvPr id="100175" name="T6Name"/>
          <p:cNvSpPr txBox="1"/>
          <p:nvPr/>
        </p:nvSpPr>
        <p:spPr>
          <a:xfrm xmlns:a="http://schemas.openxmlformats.org/drawingml/2006/main">
            <a:off x="8136000" y="2772000"/>
            <a:ext cx="324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800" b="1">
                <a:solidFill>
                  <a:srgbClr val="F85149"/>
                </a:solidFill>
              </a:rPr>
              <a:t>Scikit-learn  ≥ 1.4</a:t>
            </a:r>
          </a:p>
        </p:txBody>
      </p:sp>
      <p:sp>
        <p:nvSpPr>
          <p:cNvPr id="100176" name="T6Desc"/>
          <p:cNvSpPr txBox="1"/>
          <p:nvPr/>
        </p:nvSpPr>
        <p:spPr>
          <a:xfrm xmlns:a="http://schemas.openxmlformats.org/drawingml/2006/main">
            <a:off x="8136000" y="3096000"/>
            <a:ext cx="3240000" cy="72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a:solidFill>
                  <a:srgbClr val="C9D1D9"/>
                </a:solidFill>
              </a:rPr>
              <a:t>LinearRegression fallback forecasting · residual-based confidence intervals</a:t>
            </a:r>
          </a:p>
        </p:txBody>
      </p:sp>
      <p:sp>
        <p:nvSpPr>
          <p:cNvPr id="100177" name="DesignBox"/>
          <p:cNvSpPr txBox="1"/>
          <p:nvPr/>
        </p:nvSpPr>
        <p:spPr>
          <a:xfrm xmlns:a="http://schemas.openxmlformats.org/drawingml/2006/main">
            <a:off x="720000" y="4032000"/>
            <a:ext cx="10753200" cy="1944000"/>
          </a:xfrm>
          <a:prstGeom xmlns:a="http://schemas.openxmlformats.org/drawingml/2006/main" prst="rect">
            <a:avLst/>
          </a:prstGeom>
          <a:solidFill xmlns:a="http://schemas.openxmlformats.org/drawingml/2006/main">
            <a:srgbClr val="161B22"/>
          </a:solidFill>
        </p:spPr>
        <p:txBody>
          <a:bodyPr xmlns:a="http://schemas.openxmlformats.org/drawingml/2006/main"/>
          <a:lstStyle xmlns:a="http://schemas.openxmlformats.org/drawingml/2006/main"/>
          <a:p xmlns:a="http://schemas.openxmlformats.org/drawingml/2006/main">
            <a:endParaRPr lang="en-US">
              <a:solidFill>
                <a:srgbClr val="30363D"/>
              </a:solidFill>
            </a:endParaRPr>
          </a:p>
        </p:txBody>
      </p:sp>
      <p:sp>
        <p:nvSpPr>
          <p:cNvPr id="100178" name="DesignLabel"/>
          <p:cNvSpPr txBox="1"/>
          <p:nvPr/>
        </p:nvSpPr>
        <p:spPr>
          <a:xfrm xmlns:a="http://schemas.openxmlformats.org/drawingml/2006/main">
            <a:off x="900000" y="4140000"/>
            <a:ext cx="7200000" cy="216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b="1">
                <a:solidFill>
                  <a:srgbClr val="8B949E"/>
                </a:solidFill>
              </a:rPr>
              <a:t>UI/UX DESIGN PRINCIPLES</a:t>
            </a:r>
          </a:p>
        </p:txBody>
      </p:sp>
      <p:sp>
        <p:nvSpPr>
          <p:cNvPr id="100179" name="DesignContent"/>
          <p:cNvSpPr txBox="1"/>
          <p:nvPr/>
        </p:nvSpPr>
        <p:spPr>
          <a:xfrm xmlns:a="http://schemas.openxmlformats.org/drawingml/2006/main">
            <a:off x="900000" y="4392000"/>
            <a:ext cx="10440000" cy="14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400">
                <a:solidFill>
                  <a:srgbClr val="C9D1D9"/>
                </a:solidFill>
              </a:rPr>
              <a:t>Dark GitHub-aesthetic (#0D1117 bg / #161B22 cards / #30363D borders)  ·  Inter font via Google Fonts</a:t>
            </a:r>
          </a:p>
          <a:p xmlns:a="http://schemas.openxmlformats.org/drawingml/2006/main">
            <a:r>
              <a:rPr lang="en-US" sz="1400">
                <a:solidFill>
                  <a:srgbClr val="C9D1D9"/>
                </a:solidFill>
              </a:rPr>
              <a:t>Top accent bars per card (blue / red / green / purple / gold)  ·  Hover effects on KPI cards (border-color transition)</a:t>
            </a:r>
          </a:p>
          <a:p xmlns:a="http://schemas.openxmlformats.org/drawingml/2006/main">
            <a:r>
              <a:rPr lang="en-US" sz="1400">
                <a:solidFill>
                  <a:srgbClr val="C9D1D9"/>
                </a:solidFill>
              </a:rPr>
              <a:t>Custom CSS injected via st.markdown(unsafe_allow_html=True)  ·  All Plotly charts use a shared dark PLOTLY_TEMPLATE</a:t>
            </a:r>
          </a:p>
          <a:p xmlns:a="http://schemas.openxmlformats.org/drawingml/2006/main">
            <a:r>
              <a:rPr lang="en-US" sz="1400">
                <a:solidFill>
                  <a:srgbClr val="C9D1D9"/>
                </a:solidFill>
              </a:rPr>
              <a:t>10-color CHART_PALETTE  ·  Wide-screen layout (max-width: 1600px)  ·  Sidebar gradient background</a:t>
            </a:r>
          </a:p>
        </p:txBody>
      </p:sp>
    </p:spTree>
  </p:cSld>
</p:sld>
</file>

<file path=ppt/slides/slide12.xml><?xml version="1.0" encoding="utf-8"?>
<p:sld xmlns:a="http://schemas.openxmlformats.org/drawingml/2006/main" xmlns:p="http://schemas.openxmlformats.org/presentationml/2006/main">
  <p:cSld>
    <p:bg>
      <p:bgPr>
        <a:solidFill xmlns:a="http://schemas.openxmlformats.org/drawingml/2006/main">
          <a:srgbClr val="0D1117"/>
        </a:solidFill>
      </p:bgPr>
    </p:bg>
    <p:spTree>
      <p:nvGrpSpPr>
        <p:cNvPr id="1" name=""/>
        <p:cNvGrpSpPr/>
        <p:nvPr/>
      </p:nvGrpSpPr>
      <p:grpSpPr/>
      <p:sp>
        <p:nvSpPr>
          <p:cNvPr id="100180" name="TopBar"/>
          <p:cNvSpPr txBox="1"/>
          <p:nvPr/>
        </p:nvSpPr>
        <p:spPr>
          <a:xfrm xmlns:a="http://schemas.openxmlformats.org/drawingml/2006/main">
            <a:off x="0" y="0"/>
            <a:ext cx="12193200" cy="126000"/>
          </a:xfrm>
          <a:prstGeom xmlns:a="http://schemas.openxmlformats.org/drawingml/2006/main" prst="rect">
            <a:avLst/>
          </a:prstGeom>
          <a:solidFill xmlns:a="http://schemas.openxmlformats.org/drawingml/2006/main">
            <a:srgbClr val="1F6FEB"/>
          </a:solidFill>
        </p:spPr>
        <p:txBody>
          <a:bodyPr xmlns:a="http://schemas.openxmlformats.org/drawingml/2006/main"/>
          <a:lstStyle xmlns:a="http://schemas.openxmlformats.org/drawingml/2006/main"/>
          <a:p xmlns:a="http://schemas.openxmlformats.org/drawingml/2006/main">
            <a:endParaRPr lang="en-US">
              <a:solidFill>
                <a:srgbClr val="1F6FEB"/>
              </a:solidFill>
            </a:endParaRPr>
          </a:p>
        </p:txBody>
      </p:sp>
      <p:sp>
        <p:nvSpPr>
          <p:cNvPr id="100181" name="BottomBar"/>
          <p:cNvSpPr txBox="1"/>
          <p:nvPr/>
        </p:nvSpPr>
        <p:spPr>
          <a:xfrm xmlns:a="http://schemas.openxmlformats.org/drawingml/2006/main">
            <a:off x="0" y="6786000"/>
            <a:ext cx="12193200" cy="72000"/>
          </a:xfrm>
          <a:prstGeom xmlns:a="http://schemas.openxmlformats.org/drawingml/2006/main" prst="rect">
            <a:avLst/>
          </a:prstGeom>
          <a:solidFill xmlns:a="http://schemas.openxmlformats.org/drawingml/2006/main">
            <a:srgbClr val="1F6FEB"/>
          </a:solidFill>
        </p:spPr>
        <p:txBody>
          <a:bodyPr xmlns:a="http://schemas.openxmlformats.org/drawingml/2006/main"/>
          <a:lstStyle xmlns:a="http://schemas.openxmlformats.org/drawingml/2006/main"/>
          <a:p xmlns:a="http://schemas.openxmlformats.org/drawingml/2006/main">
            <a:endParaRPr lang="en-US">
              <a:solidFill>
                <a:srgbClr val="1F6FEB"/>
              </a:solidFill>
            </a:endParaRPr>
          </a:p>
        </p:txBody>
      </p:sp>
      <p:sp>
        <p:nvSpPr>
          <p:cNvPr id="100182" name="SlideLabel"/>
          <p:cNvSpPr txBox="1"/>
          <p:nvPr/>
        </p:nvSpPr>
        <p:spPr>
          <a:xfrm xmlns:a="http://schemas.openxmlformats.org/drawingml/2006/main">
            <a:off x="720000" y="252000"/>
            <a:ext cx="5400000" cy="216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000" b="1">
                <a:solidFill>
                  <a:srgbClr val="58A6FF"/>
                </a:solidFill>
              </a:rPr>
              <a:t>CONCLUSIONS &amp; OUTCOMES</a:t>
            </a:r>
          </a:p>
        </p:txBody>
      </p:sp>
      <p:sp>
        <p:nvSpPr>
          <p:cNvPr id="100183" name="SlideNum"/>
          <p:cNvSpPr txBox="1"/>
          <p:nvPr/>
        </p:nvSpPr>
        <p:spPr>
          <a:xfrm xmlns:a="http://schemas.openxmlformats.org/drawingml/2006/main">
            <a:off x="10800000" y="6408000"/>
            <a:ext cx="1080000" cy="216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a:solidFill>
                  <a:srgbClr val="484F58"/>
                </a:solidFill>
              </a:rPr>
              <a:t>12</a:t>
            </a:r>
          </a:p>
        </p:txBody>
      </p:sp>
      <p:sp>
        <p:nvSpPr>
          <p:cNvPr id="100184" name="Title"/>
          <p:cNvSpPr txBox="1"/>
          <p:nvPr/>
        </p:nvSpPr>
        <p:spPr>
          <a:xfrm xmlns:a="http://schemas.openxmlformats.org/drawingml/2006/main">
            <a:off x="720000" y="540000"/>
            <a:ext cx="10080000" cy="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600" b="1">
                <a:solidFill>
                  <a:srgbClr val="E6EDF3"/>
                </a:solidFill>
              </a:rPr>
              <a:t>Conclusions &amp; Key Outcomes</a:t>
            </a:r>
          </a:p>
        </p:txBody>
      </p:sp>
      <p:sp>
        <p:nvSpPr>
          <p:cNvPr id="100185" name="Divider"/>
          <p:cNvSpPr txBox="1"/>
          <p:nvPr/>
        </p:nvSpPr>
        <p:spPr>
          <a:xfrm xmlns:a="http://schemas.openxmlformats.org/drawingml/2006/main">
            <a:off x="720000" y="1116000"/>
            <a:ext cx="10753200" cy="18000"/>
          </a:xfrm>
          <a:prstGeom xmlns:a="http://schemas.openxmlformats.org/drawingml/2006/main" prst="rect">
            <a:avLst/>
          </a:prstGeom>
          <a:solidFill xmlns:a="http://schemas.openxmlformats.org/drawingml/2006/main">
            <a:srgbClr val="21262D"/>
          </a:solidFill>
        </p:spPr>
        <p:txBody>
          <a:bodyPr xmlns:a="http://schemas.openxmlformats.org/drawingml/2006/main"/>
          <a:lstStyle xmlns:a="http://schemas.openxmlformats.org/drawingml/2006/main"/>
          <a:p xmlns:a="http://schemas.openxmlformats.org/drawingml/2006/main">
            <a:endParaRPr lang="en-US">
              <a:solidFill>
                <a:srgbClr val="21262D"/>
              </a:solidFill>
            </a:endParaRPr>
          </a:p>
        </p:txBody>
      </p:sp>
      <p:sp>
        <p:nvSpPr>
          <p:cNvPr id="100186" name="C1Box"/>
          <p:cNvSpPr txBox="1"/>
          <p:nvPr/>
        </p:nvSpPr>
        <p:spPr>
          <a:xfrm xmlns:a="http://schemas.openxmlformats.org/drawingml/2006/main">
            <a:off x="720000" y="1260000"/>
            <a:ext cx="3384000" cy="2088000"/>
          </a:xfrm>
          <a:prstGeom xmlns:a="http://schemas.openxmlformats.org/drawingml/2006/main" prst="rect">
            <a:avLst/>
          </a:prstGeom>
          <a:solidFill xmlns:a="http://schemas.openxmlformats.org/drawingml/2006/main">
            <a:srgbClr val="161B22"/>
          </a:solidFill>
        </p:spPr>
        <p:txBody>
          <a:bodyPr xmlns:a="http://schemas.openxmlformats.org/drawingml/2006/main"/>
          <a:lstStyle xmlns:a="http://schemas.openxmlformats.org/drawingml/2006/main"/>
          <a:p xmlns:a="http://schemas.openxmlformats.org/drawingml/2006/main">
            <a:endParaRPr lang="en-US">
              <a:solidFill>
                <a:srgbClr val="3FB950"/>
              </a:solidFill>
            </a:endParaRPr>
          </a:p>
        </p:txBody>
      </p:sp>
      <p:sp>
        <p:nvSpPr>
          <p:cNvPr id="100187" name="C1Title"/>
          <p:cNvSpPr txBox="1"/>
          <p:nvPr/>
        </p:nvSpPr>
        <p:spPr>
          <a:xfrm xmlns:a="http://schemas.openxmlformats.org/drawingml/2006/main">
            <a:off x="864000" y="1368000"/>
            <a:ext cx="3060000" cy="25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600" b="1">
                <a:solidFill>
                  <a:srgbClr val="3FB950"/>
                </a:solidFill>
              </a:rPr>
              <a:t>What Was Achieved</a:t>
            </a:r>
          </a:p>
        </p:txBody>
      </p:sp>
      <p:sp>
        <p:nvSpPr>
          <p:cNvPr id="100188" name="C1Body"/>
          <p:cNvSpPr txBox="1"/>
          <p:nvPr/>
        </p:nvSpPr>
        <p:spPr>
          <a:xfrm xmlns:a="http://schemas.openxmlformats.org/drawingml/2006/main">
            <a:off x="864000" y="1656000"/>
            <a:ext cx="3060000" cy="1584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400">
                <a:solidFill>
                  <a:srgbClr val="C9D1D9"/>
                </a:solidFill>
              </a:rPr>
              <a:t>• Full end-to-end data science web app</a:t>
            </a:r>
          </a:p>
          <a:p xmlns:a="http://schemas.openxmlformats.org/drawingml/2006/main">
            <a:r>
              <a:rPr lang="en-US" sz="1400">
                <a:solidFill>
                  <a:srgbClr val="C9D1D9"/>
                </a:solidFill>
              </a:rPr>
              <a:t>• 5 advanced analytics features</a:t>
            </a:r>
          </a:p>
          <a:p xmlns:a="http://schemas.openxmlformats.org/drawingml/2006/main">
            <a:r>
              <a:rPr lang="en-US" sz="1400">
                <a:solidFill>
                  <a:srgbClr val="C9D1D9"/>
                </a:solidFill>
              </a:rPr>
              <a:t>• Real-time interactive Plotly charts</a:t>
            </a:r>
          </a:p>
          <a:p xmlns:a="http://schemas.openxmlformats.org/drawingml/2006/main">
            <a:r>
              <a:rPr lang="en-US" sz="1400">
                <a:solidFill>
                  <a:srgbClr val="C9D1D9"/>
                </a:solidFill>
              </a:rPr>
              <a:t>• Prophet-based 3-year forecasting</a:t>
            </a:r>
          </a:p>
          <a:p xmlns:a="http://schemas.openxmlformats.org/drawingml/2006/main">
            <a:r>
              <a:rPr lang="en-US" sz="1400">
                <a:solidFill>
                  <a:srgbClr val="C9D1D9"/>
                </a:solidFill>
              </a:rPr>
              <a:t>• Dynamic AI business insights</a:t>
            </a:r>
          </a:p>
          <a:p xmlns:a="http://schemas.openxmlformats.org/drawingml/2006/main">
            <a:r>
              <a:rPr lang="en-US" sz="1400">
                <a:solidFill>
                  <a:srgbClr val="C9D1D9"/>
                </a:solidFill>
              </a:rPr>
              <a:t>• Clean modular codebase (2 files)</a:t>
            </a:r>
          </a:p>
          <a:p xmlns:a="http://schemas.openxmlformats.org/drawingml/2006/main">
            <a:r>
              <a:rPr lang="en-US" sz="1400">
                <a:solidFill>
                  <a:srgbClr val="C9D1D9"/>
                </a:solidFill>
              </a:rPr>
              <a:t>• Production-ready &amp; deployable</a:t>
            </a:r>
          </a:p>
        </p:txBody>
      </p:sp>
      <p:sp>
        <p:nvSpPr>
          <p:cNvPr id="100189" name="C2Box"/>
          <p:cNvSpPr txBox="1"/>
          <p:nvPr/>
        </p:nvSpPr>
        <p:spPr>
          <a:xfrm xmlns:a="http://schemas.openxmlformats.org/drawingml/2006/main">
            <a:off x="4428000" y="1260000"/>
            <a:ext cx="3384000" cy="2088000"/>
          </a:xfrm>
          <a:prstGeom xmlns:a="http://schemas.openxmlformats.org/drawingml/2006/main" prst="rect">
            <a:avLst/>
          </a:prstGeom>
          <a:solidFill xmlns:a="http://schemas.openxmlformats.org/drawingml/2006/main">
            <a:srgbClr val="161B22"/>
          </a:solidFill>
        </p:spPr>
        <p:txBody>
          <a:bodyPr xmlns:a="http://schemas.openxmlformats.org/drawingml/2006/main"/>
          <a:lstStyle xmlns:a="http://schemas.openxmlformats.org/drawingml/2006/main"/>
          <a:p xmlns:a="http://schemas.openxmlformats.org/drawingml/2006/main">
            <a:endParaRPr lang="en-US">
              <a:solidFill>
                <a:srgbClr val="58A6FF"/>
              </a:solidFill>
            </a:endParaRPr>
          </a:p>
        </p:txBody>
      </p:sp>
      <p:sp>
        <p:nvSpPr>
          <p:cNvPr id="100190" name="C2Title"/>
          <p:cNvSpPr txBox="1"/>
          <p:nvPr/>
        </p:nvSpPr>
        <p:spPr>
          <a:xfrm xmlns:a="http://schemas.openxmlformats.org/drawingml/2006/main">
            <a:off x="4572000" y="1368000"/>
            <a:ext cx="3060000" cy="25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600" b="1">
                <a:solidFill>
                  <a:srgbClr val="58A6FF"/>
                </a:solidFill>
              </a:rPr>
              <a:t>Key Findings (Expected)</a:t>
            </a:r>
          </a:p>
        </p:txBody>
      </p:sp>
      <p:sp>
        <p:nvSpPr>
          <p:cNvPr id="100191" name="C2Body"/>
          <p:cNvSpPr txBox="1"/>
          <p:nvPr/>
        </p:nvSpPr>
        <p:spPr>
          <a:xfrm xmlns:a="http://schemas.openxmlformats.org/drawingml/2006/main">
            <a:off x="4572000" y="1656000"/>
            <a:ext cx="3060000" cy="1584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400">
                <a:solidFill>
                  <a:srgbClr val="C9D1D9"/>
                </a:solidFill>
              </a:rPr>
              <a:t>• Gasoline is a leading indicator for grocery prices</a:t>
            </a:r>
          </a:p>
          <a:p xmlns:a="http://schemas.openxmlformats.org/drawingml/2006/main">
            <a:r>
              <a:rPr lang="en-US" sz="1400">
                <a:solidFill>
                  <a:srgbClr val="C9D1D9"/>
                </a:solidFill>
              </a:rPr>
              <a:t>• 1–3 month lag (logistics pass-through)</a:t>
            </a:r>
          </a:p>
          <a:p xmlns:a="http://schemas.openxmlformats.org/drawingml/2006/main">
            <a:r>
              <a:rPr lang="en-US" sz="1400">
                <a:solidFill>
                  <a:srgbClr val="C9D1D9"/>
                </a:solidFill>
              </a:rPr>
              <a:t>• Eggs: highest real-price increase 2021–23</a:t>
            </a:r>
          </a:p>
          <a:p xmlns:a="http://schemas.openxmlformats.org/drawingml/2006/main">
            <a:r>
              <a:rPr lang="en-US" sz="1400">
                <a:solidFill>
                  <a:srgbClr val="C9D1D9"/>
                </a:solidFill>
              </a:rPr>
              <a:t>• Fuel-sensitive items: meat, dairy, OJ</a:t>
            </a:r>
          </a:p>
          <a:p xmlns:a="http://schemas.openxmlformats.org/drawingml/2006/main">
            <a:r>
              <a:rPr lang="en-US" sz="1400">
                <a:solidFill>
                  <a:srgbClr val="C9D1D9"/>
                </a:solidFill>
              </a:rPr>
              <a:t>• Less sensitive: flour, sugar, rice</a:t>
            </a:r>
          </a:p>
          <a:p xmlns:a="http://schemas.openxmlformats.org/drawingml/2006/main">
            <a:r>
              <a:rPr lang="en-US" sz="1400">
                <a:solidFill>
                  <a:srgbClr val="C9D1D9"/>
                </a:solidFill>
              </a:rPr>
              <a:t>• Real prices still elevated vs 2015 baseline</a:t>
            </a:r>
          </a:p>
          <a:p xmlns:a="http://schemas.openxmlformats.org/drawingml/2006/main">
            <a:r>
              <a:rPr lang="en-US" sz="1400">
                <a:solidFill>
                  <a:srgbClr val="C9D1D9"/>
                </a:solidFill>
              </a:rPr>
              <a:t>• 2026 forecasts trend 5–15% above 2024</a:t>
            </a:r>
          </a:p>
        </p:txBody>
      </p:sp>
      <p:sp>
        <p:nvSpPr>
          <p:cNvPr id="100192" name="C3Box"/>
          <p:cNvSpPr txBox="1"/>
          <p:nvPr/>
        </p:nvSpPr>
        <p:spPr>
          <a:xfrm xmlns:a="http://schemas.openxmlformats.org/drawingml/2006/main">
            <a:off x="8136000" y="1260000"/>
            <a:ext cx="3337200" cy="2088000"/>
          </a:xfrm>
          <a:prstGeom xmlns:a="http://schemas.openxmlformats.org/drawingml/2006/main" prst="rect">
            <a:avLst/>
          </a:prstGeom>
          <a:solidFill xmlns:a="http://schemas.openxmlformats.org/drawingml/2006/main">
            <a:srgbClr val="161B22"/>
          </a:solidFill>
        </p:spPr>
        <p:txBody>
          <a:bodyPr xmlns:a="http://schemas.openxmlformats.org/drawingml/2006/main"/>
          <a:lstStyle xmlns:a="http://schemas.openxmlformats.org/drawingml/2006/main"/>
          <a:p xmlns:a="http://schemas.openxmlformats.org/drawingml/2006/main">
            <a:endParaRPr lang="en-US">
              <a:solidFill>
                <a:srgbClr val="E3B341"/>
              </a:solidFill>
            </a:endParaRPr>
          </a:p>
        </p:txBody>
      </p:sp>
      <p:sp>
        <p:nvSpPr>
          <p:cNvPr id="100193" name="C3Title"/>
          <p:cNvSpPr txBox="1"/>
          <p:nvPr/>
        </p:nvSpPr>
        <p:spPr>
          <a:xfrm xmlns:a="http://schemas.openxmlformats.org/drawingml/2006/main">
            <a:off x="8280000" y="1368000"/>
            <a:ext cx="3060000" cy="25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600" b="1">
                <a:solidFill>
                  <a:srgbClr val="E3B341"/>
                </a:solidFill>
              </a:rPr>
              <a:t>Future Enhancements</a:t>
            </a:r>
          </a:p>
        </p:txBody>
      </p:sp>
      <p:sp>
        <p:nvSpPr>
          <p:cNvPr id="100194" name="C3Body"/>
          <p:cNvSpPr txBox="1"/>
          <p:nvPr/>
        </p:nvSpPr>
        <p:spPr>
          <a:xfrm xmlns:a="http://schemas.openxmlformats.org/drawingml/2006/main">
            <a:off x="8280000" y="1656000"/>
            <a:ext cx="3060000" cy="1584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400">
                <a:solidFill>
                  <a:srgbClr val="C9D1D9"/>
                </a:solidFill>
              </a:rPr>
              <a:t>• Integrate real monthly CPI index</a:t>
            </a:r>
          </a:p>
          <a:p xmlns:a="http://schemas.openxmlformats.org/drawingml/2006/main">
            <a:r>
              <a:rPr lang="en-US" sz="1400">
                <a:solidFill>
                  <a:srgbClr val="C9D1D9"/>
                </a:solidFill>
              </a:rPr>
              <a:t>• Add regional price breakdowns (BLS MSA data)</a:t>
            </a:r>
          </a:p>
          <a:p xmlns:a="http://schemas.openxmlformats.org/drawingml/2006/main">
            <a:r>
              <a:rPr lang="en-US" sz="1400">
                <a:solidFill>
                  <a:srgbClr val="C9D1D9"/>
                </a:solidFill>
              </a:rPr>
              <a:t>• Add ARIMA / XGBoost forecast models</a:t>
            </a:r>
          </a:p>
          <a:p xmlns:a="http://schemas.openxmlformats.org/drawingml/2006/main">
            <a:r>
              <a:rPr lang="en-US" sz="1400">
                <a:solidFill>
                  <a:srgbClr val="C9D1D9"/>
                </a:solidFill>
              </a:rPr>
              <a:t>• Deploy on Streamlit Cloud</a:t>
            </a:r>
          </a:p>
          <a:p xmlns:a="http://schemas.openxmlformats.org/drawingml/2006/main">
            <a:r>
              <a:rPr lang="en-US" sz="1400">
                <a:solidFill>
                  <a:srgbClr val="C9D1D9"/>
                </a:solidFill>
              </a:rPr>
              <a:t>• Add email alert for price threshold breaches</a:t>
            </a:r>
          </a:p>
          <a:p xmlns:a="http://schemas.openxmlformats.org/drawingml/2006/main">
            <a:r>
              <a:rPr lang="en-US" sz="1400">
                <a:solidFill>
                  <a:srgbClr val="C9D1D9"/>
                </a:solidFill>
              </a:rPr>
              <a:t>• Export forecast as PDF report</a:t>
            </a:r>
          </a:p>
          <a:p xmlns:a="http://schemas.openxmlformats.org/drawingml/2006/main">
            <a:r>
              <a:rPr lang="en-US" sz="1400">
                <a:solidFill>
                  <a:srgbClr val="C9D1D9"/>
                </a:solidFill>
              </a:rPr>
              <a:t>• Add commodity futures price overlay</a:t>
            </a:r>
          </a:p>
        </p:txBody>
      </p:sp>
      <p:sp>
        <p:nvSpPr>
          <p:cNvPr id="100195" name="ImpactBox"/>
          <p:cNvSpPr txBox="1"/>
          <p:nvPr/>
        </p:nvSpPr>
        <p:spPr>
          <a:xfrm xmlns:a="http://schemas.openxmlformats.org/drawingml/2006/main">
            <a:off x="720000" y="3456000"/>
            <a:ext cx="10753200" cy="1512000"/>
          </a:xfrm>
          <a:prstGeom xmlns:a="http://schemas.openxmlformats.org/drawingml/2006/main" prst="rect">
            <a:avLst/>
          </a:prstGeom>
          <a:solidFill xmlns:a="http://schemas.openxmlformats.org/drawingml/2006/main">
            <a:srgbClr val="0D1B2E"/>
          </a:solidFill>
        </p:spPr>
        <p:txBody>
          <a:bodyPr xmlns:a="http://schemas.openxmlformats.org/drawingml/2006/main"/>
          <a:lstStyle xmlns:a="http://schemas.openxmlformats.org/drawingml/2006/main"/>
          <a:p xmlns:a="http://schemas.openxmlformats.org/drawingml/2006/main">
            <a:endParaRPr lang="en-US">
              <a:solidFill>
                <a:srgbClr val="1F6FEB"/>
              </a:solidFill>
            </a:endParaRPr>
          </a:p>
        </p:txBody>
      </p:sp>
      <p:sp>
        <p:nvSpPr>
          <p:cNvPr id="100196" name="ImpactLabel"/>
          <p:cNvSpPr txBox="1"/>
          <p:nvPr/>
        </p:nvSpPr>
        <p:spPr>
          <a:xfrm xmlns:a="http://schemas.openxmlformats.org/drawingml/2006/main">
            <a:off x="900000" y="3564000"/>
            <a:ext cx="7200000" cy="216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b="1">
                <a:solidFill>
                  <a:srgbClr val="58A6FF"/>
                </a:solidFill>
              </a:rPr>
              <a:t>BUSINESS &amp; POLICY IMPACT</a:t>
            </a:r>
          </a:p>
        </p:txBody>
      </p:sp>
      <p:sp>
        <p:nvSpPr>
          <p:cNvPr id="100197" name="ImpactContent"/>
          <p:cNvSpPr txBox="1"/>
          <p:nvPr/>
        </p:nvSpPr>
        <p:spPr>
          <a:xfrm xmlns:a="http://schemas.openxmlformats.org/drawingml/2006/main">
            <a:off x="900000" y="3852000"/>
            <a:ext cx="10440000" cy="108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400">
                <a:solidFill>
                  <a:srgbClr val="79C0FF"/>
                </a:solidFill>
              </a:rPr>
              <a:t>Retailers: Use the 1–3 month gasoline lag to pre-buy grocery inventory before fuel price upswings, capturing margin before cost pass-through.</a:t>
            </a:r>
          </a:p>
          <a:p xmlns:a="http://schemas.openxmlformats.org/drawingml/2006/main">
            <a:r>
              <a:rPr lang="en-US" sz="1400">
                <a:solidFill>
                  <a:srgbClr val="79C0FF"/>
                </a:solidFill>
              </a:rPr>
              <a:t>Food Policy: Inflation-adjusted price data provides accurate signals for SNAP benefit adjustments and food security index tracking.</a:t>
            </a:r>
          </a:p>
          <a:p xmlns:a="http://schemas.openxmlformats.org/drawingml/2006/main">
            <a:r>
              <a:rPr lang="en-US" sz="1400">
                <a:solidFill>
                  <a:srgbClr val="79C0FF"/>
                </a:solidFill>
              </a:rPr>
              <a:t>Logistics Managers: Lag heatmap identifies which SKUs require the earliest hedging when fuel markets spike.</a:t>
            </a:r>
          </a:p>
          <a:p xmlns:a="http://schemas.openxmlformats.org/drawingml/2006/main">
            <a:r>
              <a:rPr lang="en-US" sz="1400">
                <a:solidFill>
                  <a:srgbClr val="79C0FF"/>
                </a:solidFill>
              </a:rPr>
              <a:t>Financial Analysts: 36-month forecasts with 95% CI bands enable defensible budget projections for commodity-exposed portfolios.</a:t>
            </a:r>
          </a:p>
        </p:txBody>
      </p:sp>
      <p:sp>
        <p:nvSpPr>
          <p:cNvPr id="100198" name="ClosingTag"/>
          <p:cNvSpPr txBox="1"/>
          <p:nvPr/>
        </p:nvSpPr>
        <p:spPr>
          <a:xfrm xmlns:a="http://schemas.openxmlformats.org/drawingml/2006/main">
            <a:off x="720000" y="5112000"/>
            <a:ext cx="107532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400" b="0">
                <a:solidFill>
                  <a:srgbClr val="484F58"/>
                </a:solidFill>
              </a:rPr>
              <a:t>github.com/your-org/us-grocery-gas-analytics  ·  Run: streamlit run main.py</a:t>
            </a:r>
          </a:p>
        </p:txBody>
      </p:sp>
      <p:sp>
        <p:nvSpPr>
          <p:cNvPr id="100199" name="ThankYou"/>
          <p:cNvSpPr txBox="1"/>
          <p:nvPr/>
        </p:nvSpPr>
        <p:spPr>
          <a:xfrm xmlns:a="http://schemas.openxmlformats.org/drawingml/2006/main">
            <a:off x="720000" y="5472000"/>
            <a:ext cx="10753200" cy="72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4000" b="1">
                <a:solidFill>
                  <a:srgbClr val="E6EDF3"/>
                </a:solidFill>
              </a:rPr>
              <a:t>Thank You</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ap:Properties xmlns:ap="http://schemas.openxmlformats.org/officeDocument/2006/extended-properties">
  <ap:Application>OfficeCLI/1.0.144</ap:Application>
</ap:Properties>
</file>

<file path=docProps/core.xml><?xml version="1.0" encoding="utf-8"?>
<cp:coreProperties xmlns:cp="http://schemas.openxmlformats.org/package/2006/metadata/core-properties" xmlns:dc="http://purl.org/dc/elements/1.1/" xmlns:dcterms="http://purl.org/dc/terms/" xmlns:xsi="http://www.w3.org/2001/XMLSchema-instance">
  <dc:creator>OfficeCLI</dc:creator>
  <dcterms:created xsi:type="dcterms:W3CDTF">2026-09-23T18:58:12Z</dcterms:created>
  <cp:lastModifiedBy>OfficeCLI</cp:lastModifiedBy>
  <dcterms:modified xsi:type="dcterms:W3CDTF">2026-09-23T18:58:12Z</dcterms:modified>
</cp:coreProperties>
</file>

<file path=docProps/custom.xml><?xml version="1.0" encoding="utf-8"?>
<op:Properties xmlns:op="http://schemas.openxmlformats.org/officeDocument/2006/custom-properties">
  <op:property fmtid="{D5CDD505-2E9C-101B-9397-08002B2CF9AE}" pid="2" name="OfficeCLI.Version">
    <vt:lpwstr xmlns:vt="http://schemas.openxmlformats.org/officeDocument/2006/docPropsVTypes">1.0.152</vt:lpwstr>
  </op:property>
  <op:property fmtid="{D5CDD505-2E9C-101B-9397-08002B2CF9AE}" pid="3" name="OfficeCLI.LastModified">
    <vt:lpwstr xmlns:vt="http://schemas.openxmlformats.org/officeDocument/2006/docPropsVTypes">2026-09-23T21:15:57Z</vt:lpwstr>
  </op:property>
</op:Properties>
</file>